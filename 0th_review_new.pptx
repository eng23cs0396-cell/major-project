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4" r:id="rId1"/>
    <p:sldMasterId id="2147483665" r:id="rId2"/>
  </p:sldMasterIdLst>
  <p:notesMasterIdLst>
    <p:notesMasterId r:id="rId21"/>
  </p:notesMasterIdLst>
  <p:sldIdLst>
    <p:sldId id="256" r:id="rId3"/>
    <p:sldId id="257" r:id="rId4"/>
    <p:sldId id="258" r:id="rId5"/>
    <p:sldId id="259" r:id="rId6"/>
    <p:sldId id="267" r:id="rId7"/>
    <p:sldId id="260" r:id="rId8"/>
    <p:sldId id="268" r:id="rId9"/>
    <p:sldId id="273" r:id="rId10"/>
    <p:sldId id="276" r:id="rId11"/>
    <p:sldId id="274" r:id="rId12"/>
    <p:sldId id="275" r:id="rId13"/>
    <p:sldId id="269" r:id="rId14"/>
    <p:sldId id="261" r:id="rId15"/>
    <p:sldId id="272" r:id="rId16"/>
    <p:sldId id="271" r:id="rId17"/>
    <p:sldId id="262" r:id="rId18"/>
    <p:sldId id="266" r:id="rId19"/>
    <p:sldId id="277" r:id="rId20"/>
  </p:sldIdLst>
  <p:sldSz cx="9144000" cy="6858000" type="screen4x3"/>
  <p:notesSz cx="6858000" cy="9144000"/>
  <p:embeddedFontLst>
    <p:embeddedFont>
      <p:font typeface="Cambria" panose="02040503050406030204" pitchFamily="18" charset="0"/>
      <p:regular r:id="rId22"/>
      <p:bold r:id="rId23"/>
      <p:italic r:id="rId24"/>
      <p:boldItalic r:id="rId25"/>
    </p:embeddedFont>
    <p:embeddedFont>
      <p:font typeface="Century Gothic" panose="020B0502020202020204" pitchFamily="3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39" dt="2026-08-21T07:09:19.862"/>
    <p1510:client id="{A84D520B-8616-F455-D212-DCD2D151D981}" v="6" dt="2026-08-21T07:12:46.783"/>
    <p1510:client id="{C5077059-8218-05DD-D271-7B69FB1B2B1A}" v="7" dt="2026-08-21T07:11:17.935"/>
    <p1510:client id="{F8CC675C-B9A5-6C22-0685-E462CD62AA37}" v="139" dt="2026-08-21T15:41:21.907"/>
  </p1510:revLst>
</p1510:revInfo>
</file>

<file path=ppt/tableStyles.xml><?xml version="1.0" encoding="utf-8"?>
<a:tblStyleLst xmlns:a="http://schemas.openxmlformats.org/drawingml/2006/main" def="{2B881FAD-07A5-42EF-9D34-E71FABE4D0F1}">
  <a:tblStyle styleId="{2B881FAD-07A5-42EF-9D34-E71FABE4D0F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5" d="100"/>
          <a:sy n="85" d="100"/>
        </p:scale>
        <p:origin x="1554"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5.fntdata"/><Relationship Id="rId3" Type="http://schemas.openxmlformats.org/officeDocument/2006/relationships/slide" Target="slides/slide1.xml"/><Relationship Id="rId21" Type="http://schemas.openxmlformats.org/officeDocument/2006/relationships/notesMaster" Target="notesMasters/notesMaster1.xml"/><Relationship Id="rId34"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presProps" Target="pres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2pPr>
            <a:lvl3pPr marR="0" lvl="2"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3pPr>
            <a:lvl4pPr marR="0" lvl="3"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4pPr>
            <a:lvl5pPr marR="0" lvl="4"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5pPr>
            <a:lvl6pPr marR="0" lvl="5"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6pPr>
            <a:lvl7pPr marR="0" lvl="6"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7pPr>
            <a:lvl8pPr marR="0" lvl="7"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8pPr>
            <a:lvl9pPr marR="0" lvl="8"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2pPr>
            <a:lvl3pPr marR="0" lvl="2"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3pPr>
            <a:lvl4pPr marR="0" lvl="3"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4pPr>
            <a:lvl5pPr marR="0" lvl="4"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5pPr>
            <a:lvl6pPr marR="0" lvl="5"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6pPr>
            <a:lvl7pPr marR="0" lvl="6"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7pPr>
            <a:lvl8pPr marR="0" lvl="7"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8pPr>
            <a:lvl9pPr marR="0" lvl="8"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2pPr>
            <a:lvl3pPr marR="0" lvl="2"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3pPr>
            <a:lvl4pPr marR="0" lvl="3"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4pPr>
            <a:lvl5pPr marR="0" lvl="4"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5pPr>
            <a:lvl6pPr marR="0" lvl="5"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6pPr>
            <a:lvl7pPr marR="0" lvl="6"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7pPr>
            <a:lvl8pPr marR="0" lvl="7"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8pPr>
            <a:lvl9pPr marR="0" lvl="8" algn="l" rtl="0">
              <a:lnSpc>
                <a:spcPct val="100000"/>
              </a:lnSpc>
              <a:spcBef>
                <a:spcPts val="0"/>
              </a:spcBef>
              <a:spcAft>
                <a:spcPts val="0"/>
              </a:spcAft>
              <a:buSzPts val="1400"/>
              <a:buNone/>
              <a:defRPr sz="1800" b="0" i="0" u="none" strike="noStrike" cap="none">
                <a:solidFill>
                  <a:srgbClr val="000000"/>
                </a:solidFill>
                <a:latin typeface="Century Gothic"/>
                <a:ea typeface="Century Gothic"/>
                <a:cs typeface="Century Gothic"/>
                <a:sym typeface="Century Gothic"/>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p1:notes"/>
          <p:cNvSpPr txBox="1"/>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a:solidFill>
                  <a:srgbClr val="000000"/>
                </a:solidFill>
                <a:latin typeface="Arial"/>
                <a:ea typeface="Arial"/>
                <a:cs typeface="Arial"/>
                <a:sym typeface="Arial"/>
              </a:rPr>
              <a:t>Title of the project</a:t>
            </a:r>
            <a:endParaRPr/>
          </a:p>
        </p:txBody>
      </p:sp>
      <p:sp>
        <p:nvSpPr>
          <p:cNvPr id="684" name="Google Shape;684;p1:notes"/>
          <p:cNvSpPr txBox="1"/>
          <p:nvPr/>
        </p:nvSpPr>
        <p:spPr>
          <a:xfrm>
            <a:off x="0" y="8685212"/>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a:solidFill>
                  <a:srgbClr val="000000"/>
                </a:solidFill>
                <a:latin typeface="Arial"/>
                <a:ea typeface="Arial"/>
                <a:cs typeface="Arial"/>
                <a:sym typeface="Arial"/>
              </a:rPr>
              <a:t>CSE Dept., SET-Jain University</a:t>
            </a:r>
            <a:endParaRPr/>
          </a:p>
        </p:txBody>
      </p:sp>
      <p:sp>
        <p:nvSpPr>
          <p:cNvPr id="685" name="Google Shape;685;p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1</a:t>
            </a:fld>
            <a:endParaRPr/>
          </a:p>
        </p:txBody>
      </p:sp>
      <p:sp>
        <p:nvSpPr>
          <p:cNvPr id="686" name="Google Shape;6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87" name="Google Shape;687;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9" name="Google Shape;69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8" name="Google Shape;70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7" name="Google Shape;717;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7" name="Google Shape;717;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73798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6" name="Google Shape;726;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6" name="Google Shape;726;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95602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6" name="Google Shape;726;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3102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6" name="Google Shape;726;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48622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6" name="Google Shape;726;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66454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6" name="Google Shape;726;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11093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6" name="Google Shape;726;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15314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5" name="Google Shape;735;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5" name="Google Shape;735;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55590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5" name="Google Shape;735;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13961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4" name="Google Shape;744;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3" name="Google Shape;783;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1"/>
        <p:cNvGrpSpPr/>
        <p:nvPr/>
      </p:nvGrpSpPr>
      <p:grpSpPr>
        <a:xfrm>
          <a:off x="0" y="0"/>
          <a:ext cx="0" cy="0"/>
          <a:chOff x="0" y="0"/>
          <a:chExt cx="0" cy="0"/>
        </a:xfrm>
      </p:grpSpPr>
      <p:sp>
        <p:nvSpPr>
          <p:cNvPr id="42" name="Google Shape;42;p2"/>
          <p:cNvSpPr txBox="1">
            <a:spLocks noGrp="1"/>
          </p:cNvSpPr>
          <p:nvPr>
            <p:ph type="ctrTitle"/>
          </p:nvPr>
        </p:nvSpPr>
        <p:spPr>
          <a:xfrm>
            <a:off x="1942416" y="2514601"/>
            <a:ext cx="6600451" cy="2262781"/>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SzPts val="1400"/>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
          <p:cNvSpPr txBox="1">
            <a:spLocks noGrp="1"/>
          </p:cNvSpPr>
          <p:nvPr>
            <p:ph type="subTitle" idx="1"/>
          </p:nvPr>
        </p:nvSpPr>
        <p:spPr>
          <a:xfrm>
            <a:off x="1942416" y="4777380"/>
            <a:ext cx="6600451" cy="1126283"/>
          </a:xfrm>
          <a:prstGeom prst="rect">
            <a:avLst/>
          </a:prstGeom>
          <a:noFill/>
          <a:ln>
            <a:noFill/>
          </a:ln>
        </p:spPr>
        <p:txBody>
          <a:bodyPr spcFirstLastPara="1" wrap="square" lIns="91425" tIns="45700" rIns="91425" bIns="45700" anchor="t" anchorCtr="0">
            <a:noAutofit/>
          </a:bodyPr>
          <a:lstStyle>
            <a:lvl1pPr lvl="0" algn="l">
              <a:spcBef>
                <a:spcPts val="1000"/>
              </a:spcBef>
              <a:spcAft>
                <a:spcPts val="0"/>
              </a:spcAft>
              <a:buSzPts val="1800"/>
              <a:buNone/>
              <a:defRPr>
                <a:solidFill>
                  <a:srgbClr val="595959"/>
                </a:solidFill>
              </a:defRPr>
            </a:lvl1pPr>
            <a:lvl2pPr lvl="1" algn="ctr">
              <a:spcBef>
                <a:spcPts val="1000"/>
              </a:spcBef>
              <a:spcAft>
                <a:spcPts val="0"/>
              </a:spcAft>
              <a:buSzPts val="1600"/>
              <a:buNone/>
              <a:defRPr>
                <a:solidFill>
                  <a:srgbClr val="888888"/>
                </a:solidFill>
              </a:defRPr>
            </a:lvl2pPr>
            <a:lvl3pPr lvl="2" algn="ctr">
              <a:spcBef>
                <a:spcPts val="1000"/>
              </a:spcBef>
              <a:spcAft>
                <a:spcPts val="0"/>
              </a:spcAft>
              <a:buSzPts val="1400"/>
              <a:buNone/>
              <a:defRPr>
                <a:solidFill>
                  <a:srgbClr val="888888"/>
                </a:solidFill>
              </a:defRPr>
            </a:lvl3pPr>
            <a:lvl4pPr lvl="3" algn="ctr">
              <a:spcBef>
                <a:spcPts val="1000"/>
              </a:spcBef>
              <a:spcAft>
                <a:spcPts val="0"/>
              </a:spcAft>
              <a:buSzPts val="1200"/>
              <a:buNone/>
              <a:defRPr>
                <a:solidFill>
                  <a:srgbClr val="888888"/>
                </a:solidFill>
              </a:defRPr>
            </a:lvl4pPr>
            <a:lvl5pPr lvl="4" algn="ctr">
              <a:spcBef>
                <a:spcPts val="1000"/>
              </a:spcBef>
              <a:spcAft>
                <a:spcPts val="0"/>
              </a:spcAft>
              <a:buSzPts val="1200"/>
              <a:buNone/>
              <a:defRPr>
                <a:solidFill>
                  <a:srgbClr val="888888"/>
                </a:solidFill>
              </a:defRPr>
            </a:lvl5pPr>
            <a:lvl6pPr lvl="5" algn="ctr">
              <a:spcBef>
                <a:spcPts val="1000"/>
              </a:spcBef>
              <a:spcAft>
                <a:spcPts val="0"/>
              </a:spcAft>
              <a:buSzPts val="1200"/>
              <a:buNone/>
              <a:defRPr>
                <a:solidFill>
                  <a:srgbClr val="888888"/>
                </a:solidFill>
              </a:defRPr>
            </a:lvl6pPr>
            <a:lvl7pPr lvl="6" algn="ctr">
              <a:spcBef>
                <a:spcPts val="1000"/>
              </a:spcBef>
              <a:spcAft>
                <a:spcPts val="0"/>
              </a:spcAft>
              <a:buSzPts val="1200"/>
              <a:buNone/>
              <a:defRPr>
                <a:solidFill>
                  <a:srgbClr val="888888"/>
                </a:solidFill>
              </a:defRPr>
            </a:lvl7pPr>
            <a:lvl8pPr lvl="7" algn="ctr">
              <a:spcBef>
                <a:spcPts val="1000"/>
              </a:spcBef>
              <a:spcAft>
                <a:spcPts val="0"/>
              </a:spcAft>
              <a:buSzPts val="1200"/>
              <a:buNone/>
              <a:defRPr>
                <a:solidFill>
                  <a:srgbClr val="888888"/>
                </a:solidFill>
              </a:defRPr>
            </a:lvl8pPr>
            <a:lvl9pPr lvl="8" algn="ctr">
              <a:spcBef>
                <a:spcPts val="1000"/>
              </a:spcBef>
              <a:spcAft>
                <a:spcPts val="0"/>
              </a:spcAft>
              <a:buSzPts val="1200"/>
              <a:buNone/>
              <a:defRPr>
                <a:solidFill>
                  <a:srgbClr val="888888"/>
                </a:solidFill>
              </a:defRPr>
            </a:lvl9pPr>
          </a:lstStyle>
          <a:p>
            <a:endParaRPr/>
          </a:p>
        </p:txBody>
      </p:sp>
      <p:sp>
        <p:nvSpPr>
          <p:cNvPr id="44" name="Google Shape;44;p2"/>
          <p:cNvSpPr txBox="1">
            <a:spLocks noGrp="1"/>
          </p:cNvSpPr>
          <p:nvPr>
            <p:ph type="sldNum" idx="12"/>
          </p:nvPr>
        </p:nvSpPr>
        <p:spPr>
          <a:xfrm>
            <a:off x="423862" y="4529137"/>
            <a:ext cx="584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EFFFF"/>
              </a:buClr>
              <a:buSzPts val="2000"/>
              <a:buFont typeface="Century Gothic"/>
              <a:buNone/>
              <a:defRPr sz="2000" b="0" i="0" u="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FEFFFF"/>
              </a:buClr>
              <a:buSzPts val="2000"/>
              <a:buFont typeface="Century Gothic"/>
              <a:buNone/>
              <a:defRPr sz="2000" b="0" i="0" u="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FEFFFF"/>
              </a:buClr>
              <a:buSzPts val="2000"/>
              <a:buFont typeface="Century Gothic"/>
              <a:buNone/>
              <a:defRPr sz="2000" b="0" i="0" u="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FEFFFF"/>
              </a:buClr>
              <a:buSzPts val="2000"/>
              <a:buFont typeface="Century Gothic"/>
              <a:buNone/>
              <a:defRPr sz="2000" b="0" i="0" u="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FEFFFF"/>
              </a:buClr>
              <a:buSzPts val="2000"/>
              <a:buFont typeface="Century Gothic"/>
              <a:buNone/>
              <a:defRPr sz="2000" b="0" i="0" u="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FEFFFF"/>
              </a:buClr>
              <a:buSzPts val="2000"/>
              <a:buFont typeface="Century Gothic"/>
              <a:buNone/>
              <a:defRPr sz="2000" b="0" i="0" u="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FEFFFF"/>
              </a:buClr>
              <a:buSzPts val="2000"/>
              <a:buFont typeface="Century Gothic"/>
              <a:buNone/>
              <a:defRPr sz="2000" b="0" i="0" u="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FEFFFF"/>
              </a:buClr>
              <a:buSzPts val="2000"/>
              <a:buFont typeface="Century Gothic"/>
              <a:buNone/>
              <a:defRPr sz="2000" b="0" i="0" u="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FEFFFF"/>
              </a:buClr>
              <a:buSzPts val="2000"/>
              <a:buFont typeface="Century Gothic"/>
              <a:buNone/>
              <a:defRPr sz="2000" b="0" i="0" u="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79"/>
        <p:cNvGrpSpPr/>
        <p:nvPr/>
      </p:nvGrpSpPr>
      <p:grpSpPr>
        <a:xfrm>
          <a:off x="0" y="0"/>
          <a:ext cx="0" cy="0"/>
          <a:chOff x="0" y="0"/>
          <a:chExt cx="0" cy="0"/>
        </a:xfrm>
      </p:grpSpPr>
      <p:sp>
        <p:nvSpPr>
          <p:cNvPr id="80" name="Google Shape;80;p4"/>
          <p:cNvSpPr txBox="1">
            <a:spLocks noGrp="1"/>
          </p:cNvSpPr>
          <p:nvPr>
            <p:ph type="title"/>
          </p:nvPr>
        </p:nvSpPr>
        <p:spPr>
          <a:xfrm>
            <a:off x="1945201" y="624110"/>
            <a:ext cx="6589199" cy="128089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4"/>
          <p:cNvSpPr txBox="1">
            <a:spLocks noGrp="1"/>
          </p:cNvSpPr>
          <p:nvPr>
            <p:ph type="body" idx="1"/>
          </p:nvPr>
        </p:nvSpPr>
        <p:spPr>
          <a:xfrm>
            <a:off x="1942415" y="2133600"/>
            <a:ext cx="6591985" cy="3777622"/>
          </a:xfrm>
          <a:prstGeom prst="rect">
            <a:avLst/>
          </a:prstGeom>
          <a:noFill/>
          <a:ln>
            <a:noFill/>
          </a:ln>
        </p:spPr>
        <p:txBody>
          <a:bodyPr spcFirstLastPara="1" wrap="square" lIns="91425" tIns="45700" rIns="91425" bIns="45700" anchor="t" anchorCtr="0">
            <a:no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82" name="Google Shape;82;p4"/>
          <p:cNvSpPr txBox="1">
            <a:spLocks noGrp="1"/>
          </p:cNvSpPr>
          <p:nvPr>
            <p:ph type="dt" idx="10"/>
          </p:nvPr>
        </p:nvSpPr>
        <p:spPr>
          <a:xfrm>
            <a:off x="1943100" y="6103937"/>
            <a:ext cx="952500" cy="369887"/>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4"/>
          <p:cNvSpPr txBox="1">
            <a:spLocks noGrp="1"/>
          </p:cNvSpPr>
          <p:nvPr>
            <p:ph type="ftr" idx="11"/>
          </p:nvPr>
        </p:nvSpPr>
        <p:spPr>
          <a:xfrm>
            <a:off x="2895600" y="6103937"/>
            <a:ext cx="4876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4"/>
          <p:cNvSpPr txBox="1">
            <a:spLocks noGrp="1"/>
          </p:cNvSpPr>
          <p:nvPr>
            <p:ph type="sldNum" idx="12"/>
          </p:nvPr>
        </p:nvSpPr>
        <p:spPr>
          <a:xfrm>
            <a:off x="7948612" y="6140450"/>
            <a:ext cx="776287"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9pPr>
          </a:lstStyle>
          <a:p>
            <a:pPr marL="0" lvl="0" indent="0" algn="ctr" rtl="0">
              <a:spcBef>
                <a:spcPts val="0"/>
              </a:spcBef>
              <a:spcAft>
                <a:spcPts val="0"/>
              </a:spcAft>
              <a:buNone/>
            </a:pPr>
            <a:r>
              <a:rPr lang="en-US"/>
              <a:t>(#)  of 12</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C5DEE5"/>
            </a:gs>
          </a:gsLst>
          <a:lin ang="5400000" scaled="0"/>
        </a:gradFill>
        <a:effectLst/>
      </p:bgPr>
    </p:bg>
    <p:spTree>
      <p:nvGrpSpPr>
        <p:cNvPr id="1" name="Shape 9"/>
        <p:cNvGrpSpPr/>
        <p:nvPr/>
      </p:nvGrpSpPr>
      <p:grpSpPr>
        <a:xfrm>
          <a:off x="0" y="0"/>
          <a:ext cx="0" cy="0"/>
          <a:chOff x="0" y="0"/>
          <a:chExt cx="0" cy="0"/>
        </a:xfrm>
      </p:grpSpPr>
      <p:grpSp>
        <p:nvGrpSpPr>
          <p:cNvPr id="10" name="Google Shape;10;p1"/>
          <p:cNvGrpSpPr/>
          <p:nvPr/>
        </p:nvGrpSpPr>
        <p:grpSpPr>
          <a:xfrm>
            <a:off x="0" y="228600"/>
            <a:ext cx="1981200" cy="6638925"/>
            <a:chOff x="2487613" y="285750"/>
            <a:chExt cx="2428875" cy="5654676"/>
          </a:xfrm>
        </p:grpSpPr>
        <p:sp>
          <p:nvSpPr>
            <p:cNvPr id="11" name="Google Shape;11;p1"/>
            <p:cNvSpPr/>
            <p:nvPr/>
          </p:nvSpPr>
          <p:spPr>
            <a:xfrm>
              <a:off x="2487613" y="2284413"/>
              <a:ext cx="85725" cy="533400"/>
            </a:xfrm>
            <a:custGeom>
              <a:avLst/>
              <a:gdLst/>
              <a:ahLst/>
              <a:cxnLst/>
              <a:rect l="l" t="t" r="r" b="b"/>
              <a:pathLst>
                <a:path w="22" h="136" extrusionOk="0">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12" name="Google Shape;12;p1"/>
            <p:cNvSpPr/>
            <p:nvPr/>
          </p:nvSpPr>
          <p:spPr>
            <a:xfrm>
              <a:off x="2597151" y="2779713"/>
              <a:ext cx="550863" cy="1978025"/>
            </a:xfrm>
            <a:custGeom>
              <a:avLst/>
              <a:gdLst/>
              <a:ahLst/>
              <a:cxnLst/>
              <a:rect l="l" t="t" r="r" b="b"/>
              <a:pathLst>
                <a:path w="140" h="504" extrusionOk="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13" name="Google Shape;13;p1"/>
            <p:cNvSpPr/>
            <p:nvPr/>
          </p:nvSpPr>
          <p:spPr>
            <a:xfrm>
              <a:off x="3175001" y="4730750"/>
              <a:ext cx="519113" cy="1209675"/>
            </a:xfrm>
            <a:custGeom>
              <a:avLst/>
              <a:gdLst/>
              <a:ahLst/>
              <a:cxnLst/>
              <a:rect l="l" t="t" r="r" b="b"/>
              <a:pathLst>
                <a:path w="132" h="308" extrusionOk="0">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14" name="Google Shape;14;p1"/>
            <p:cNvSpPr/>
            <p:nvPr/>
          </p:nvSpPr>
          <p:spPr>
            <a:xfrm>
              <a:off x="3305176" y="5630863"/>
              <a:ext cx="146050" cy="309563"/>
            </a:xfrm>
            <a:custGeom>
              <a:avLst/>
              <a:gdLst/>
              <a:ahLst/>
              <a:cxnLst/>
              <a:rect l="l" t="t" r="r" b="b"/>
              <a:pathLst>
                <a:path w="37" h="79" extrusionOk="0">
                  <a:moveTo>
                    <a:pt x="28" y="79"/>
                  </a:moveTo>
                  <a:cubicBezTo>
                    <a:pt x="37" y="79"/>
                    <a:pt x="37" y="79"/>
                    <a:pt x="37" y="79"/>
                  </a:cubicBezTo>
                  <a:cubicBezTo>
                    <a:pt x="24" y="53"/>
                    <a:pt x="12" y="27"/>
                    <a:pt x="0" y="0"/>
                  </a:cubicBezTo>
                  <a:cubicBezTo>
                    <a:pt x="8" y="27"/>
                    <a:pt x="17" y="53"/>
                    <a:pt x="28" y="79"/>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15" name="Google Shape;15;p1"/>
            <p:cNvSpPr/>
            <p:nvPr/>
          </p:nvSpPr>
          <p:spPr>
            <a:xfrm>
              <a:off x="2573338" y="2817813"/>
              <a:ext cx="700088" cy="2835275"/>
            </a:xfrm>
            <a:custGeom>
              <a:avLst/>
              <a:gdLst/>
              <a:ahLst/>
              <a:cxnLst/>
              <a:rect l="l" t="t" r="r" b="b"/>
              <a:pathLst>
                <a:path w="178" h="722" extrusionOk="0">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16" name="Google Shape;16;p1"/>
            <p:cNvSpPr/>
            <p:nvPr/>
          </p:nvSpPr>
          <p:spPr>
            <a:xfrm>
              <a:off x="2506663" y="285750"/>
              <a:ext cx="90488" cy="2493963"/>
            </a:xfrm>
            <a:custGeom>
              <a:avLst/>
              <a:gdLst/>
              <a:ahLst/>
              <a:cxnLst/>
              <a:rect l="l" t="t" r="r" b="b"/>
              <a:pathLst>
                <a:path w="23" h="635" extrusionOk="0">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17" name="Google Shape;17;p1"/>
            <p:cNvSpPr/>
            <p:nvPr/>
          </p:nvSpPr>
          <p:spPr>
            <a:xfrm>
              <a:off x="2554288" y="2598738"/>
              <a:ext cx="66675" cy="420688"/>
            </a:xfrm>
            <a:custGeom>
              <a:avLst/>
              <a:gdLst/>
              <a:ahLst/>
              <a:cxnLst/>
              <a:rect l="l" t="t" r="r" b="b"/>
              <a:pathLst>
                <a:path w="17" h="107" extrusionOk="0">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18" name="Google Shape;18;p1"/>
            <p:cNvSpPr/>
            <p:nvPr/>
          </p:nvSpPr>
          <p:spPr>
            <a:xfrm>
              <a:off x="3143251" y="4757738"/>
              <a:ext cx="161925" cy="873125"/>
            </a:xfrm>
            <a:custGeom>
              <a:avLst/>
              <a:gdLst/>
              <a:ahLst/>
              <a:cxnLst/>
              <a:rect l="l" t="t" r="r" b="b"/>
              <a:pathLst>
                <a:path w="41" h="222" extrusionOk="0">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19" name="Google Shape;19;p1"/>
            <p:cNvSpPr/>
            <p:nvPr/>
          </p:nvSpPr>
          <p:spPr>
            <a:xfrm>
              <a:off x="3148013" y="1282700"/>
              <a:ext cx="1768475" cy="3448050"/>
            </a:xfrm>
            <a:custGeom>
              <a:avLst/>
              <a:gdLst/>
              <a:ahLst/>
              <a:cxnLst/>
              <a:rect l="l" t="t" r="r" b="b"/>
              <a:pathLst>
                <a:path w="450" h="878" extrusionOk="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20" name="Google Shape;20;p1"/>
            <p:cNvSpPr/>
            <p:nvPr/>
          </p:nvSpPr>
          <p:spPr>
            <a:xfrm>
              <a:off x="3273426" y="5653088"/>
              <a:ext cx="138113" cy="287338"/>
            </a:xfrm>
            <a:custGeom>
              <a:avLst/>
              <a:gdLst/>
              <a:ahLst/>
              <a:cxnLst/>
              <a:rect l="l" t="t" r="r" b="b"/>
              <a:pathLst>
                <a:path w="35" h="73" extrusionOk="0">
                  <a:moveTo>
                    <a:pt x="0" y="0"/>
                  </a:moveTo>
                  <a:cubicBezTo>
                    <a:pt x="7" y="24"/>
                    <a:pt x="16" y="49"/>
                    <a:pt x="26" y="73"/>
                  </a:cubicBezTo>
                  <a:cubicBezTo>
                    <a:pt x="35" y="73"/>
                    <a:pt x="35" y="73"/>
                    <a:pt x="35" y="73"/>
                  </a:cubicBezTo>
                  <a:cubicBezTo>
                    <a:pt x="23" y="49"/>
                    <a:pt x="11" y="24"/>
                    <a:pt x="0" y="0"/>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21" name="Google Shape;21;p1"/>
            <p:cNvSpPr/>
            <p:nvPr/>
          </p:nvSpPr>
          <p:spPr>
            <a:xfrm>
              <a:off x="3143251" y="4656138"/>
              <a:ext cx="31750" cy="188913"/>
            </a:xfrm>
            <a:custGeom>
              <a:avLst/>
              <a:gdLst/>
              <a:ahLst/>
              <a:cxnLst/>
              <a:rect l="l" t="t" r="r" b="b"/>
              <a:pathLst>
                <a:path w="8" h="48" extrusionOk="0">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22" name="Google Shape;22;p1"/>
            <p:cNvSpPr/>
            <p:nvPr/>
          </p:nvSpPr>
          <p:spPr>
            <a:xfrm>
              <a:off x="3211513" y="5410200"/>
              <a:ext cx="203200" cy="530225"/>
            </a:xfrm>
            <a:custGeom>
              <a:avLst/>
              <a:gdLst/>
              <a:ahLst/>
              <a:cxnLst/>
              <a:rect l="l" t="t" r="r" b="b"/>
              <a:pathLst>
                <a:path w="52" h="135" extrusionOk="0">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grpSp>
      <p:grpSp>
        <p:nvGrpSpPr>
          <p:cNvPr id="23" name="Google Shape;23;p1"/>
          <p:cNvGrpSpPr/>
          <p:nvPr/>
        </p:nvGrpSpPr>
        <p:grpSpPr>
          <a:xfrm>
            <a:off x="20637" y="0"/>
            <a:ext cx="1952625" cy="6853237"/>
            <a:chOff x="6627813" y="196102"/>
            <a:chExt cx="1952625" cy="5677649"/>
          </a:xfrm>
        </p:grpSpPr>
        <p:sp>
          <p:nvSpPr>
            <p:cNvPr id="24" name="Google Shape;24;p1"/>
            <p:cNvSpPr/>
            <p:nvPr/>
          </p:nvSpPr>
          <p:spPr>
            <a:xfrm>
              <a:off x="6627813" y="196102"/>
              <a:ext cx="409575" cy="3646488"/>
            </a:xfrm>
            <a:custGeom>
              <a:avLst/>
              <a:gdLst/>
              <a:ahLst/>
              <a:cxnLst/>
              <a:rect l="l" t="t" r="r" b="b"/>
              <a:pathLst>
                <a:path w="103" h="920" extrusionOk="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25" name="Google Shape;25;p1"/>
            <p:cNvSpPr/>
            <p:nvPr/>
          </p:nvSpPr>
          <p:spPr>
            <a:xfrm>
              <a:off x="7061201" y="3771900"/>
              <a:ext cx="350838" cy="1309688"/>
            </a:xfrm>
            <a:custGeom>
              <a:avLst/>
              <a:gdLst/>
              <a:ahLst/>
              <a:cxnLst/>
              <a:rect l="l" t="t" r="r" b="b"/>
              <a:pathLst>
                <a:path w="88" h="330" extrusionOk="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26" name="Google Shape;26;p1"/>
            <p:cNvSpPr/>
            <p:nvPr/>
          </p:nvSpPr>
          <p:spPr>
            <a:xfrm>
              <a:off x="7439026" y="5053013"/>
              <a:ext cx="357188" cy="820738"/>
            </a:xfrm>
            <a:custGeom>
              <a:avLst/>
              <a:gdLst/>
              <a:ahLst/>
              <a:cxnLst/>
              <a:rect l="l" t="t" r="r" b="b"/>
              <a:pathLst>
                <a:path w="90" h="207" extrusionOk="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27" name="Google Shape;27;p1"/>
            <p:cNvSpPr/>
            <p:nvPr/>
          </p:nvSpPr>
          <p:spPr>
            <a:xfrm>
              <a:off x="7037388" y="3811588"/>
              <a:ext cx="457200" cy="1852613"/>
            </a:xfrm>
            <a:custGeom>
              <a:avLst/>
              <a:gdLst/>
              <a:ahLst/>
              <a:cxnLst/>
              <a:rect l="l" t="t" r="r" b="b"/>
              <a:pathLst>
                <a:path w="115" h="467" extrusionOk="0">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28" name="Google Shape;28;p1"/>
            <p:cNvSpPr/>
            <p:nvPr/>
          </p:nvSpPr>
          <p:spPr>
            <a:xfrm>
              <a:off x="6992938" y="1263650"/>
              <a:ext cx="144463" cy="2508250"/>
            </a:xfrm>
            <a:custGeom>
              <a:avLst/>
              <a:gdLst/>
              <a:ahLst/>
              <a:cxnLst/>
              <a:rect l="l" t="t" r="r" b="b"/>
              <a:pathLst>
                <a:path w="36" h="633" extrusionOk="0">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29" name="Google Shape;29;p1"/>
            <p:cNvSpPr/>
            <p:nvPr/>
          </p:nvSpPr>
          <p:spPr>
            <a:xfrm>
              <a:off x="7526338" y="5640388"/>
              <a:ext cx="111125" cy="233363"/>
            </a:xfrm>
            <a:custGeom>
              <a:avLst/>
              <a:gdLst/>
              <a:ahLst/>
              <a:cxnLst/>
              <a:rect l="l" t="t" r="r" b="b"/>
              <a:pathLst>
                <a:path w="28" h="59" extrusionOk="0">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30" name="Google Shape;30;p1"/>
            <p:cNvSpPr/>
            <p:nvPr/>
          </p:nvSpPr>
          <p:spPr>
            <a:xfrm>
              <a:off x="7021513" y="3598863"/>
              <a:ext cx="68263" cy="423863"/>
            </a:xfrm>
            <a:custGeom>
              <a:avLst/>
              <a:gdLst/>
              <a:ahLst/>
              <a:cxnLst/>
              <a:rect l="l" t="t" r="r" b="b"/>
              <a:pathLst>
                <a:path w="17" h="107" extrusionOk="0">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31" name="Google Shape;31;p1"/>
            <p:cNvSpPr/>
            <p:nvPr/>
          </p:nvSpPr>
          <p:spPr>
            <a:xfrm>
              <a:off x="7412038" y="2801938"/>
              <a:ext cx="1168400" cy="2251075"/>
            </a:xfrm>
            <a:custGeom>
              <a:avLst/>
              <a:gdLst/>
              <a:ahLst/>
              <a:cxnLst/>
              <a:rect l="l" t="t" r="r" b="b"/>
              <a:pathLst>
                <a:path w="294" h="568" extrusionOk="0">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32" name="Google Shape;32;p1"/>
            <p:cNvSpPr/>
            <p:nvPr/>
          </p:nvSpPr>
          <p:spPr>
            <a:xfrm>
              <a:off x="7494588" y="5664200"/>
              <a:ext cx="100013" cy="209550"/>
            </a:xfrm>
            <a:custGeom>
              <a:avLst/>
              <a:gdLst/>
              <a:ahLst/>
              <a:cxnLst/>
              <a:rect l="l" t="t" r="r" b="b"/>
              <a:pathLst>
                <a:path w="25" h="53" extrusionOk="0">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33" name="Google Shape;33;p1"/>
            <p:cNvSpPr/>
            <p:nvPr/>
          </p:nvSpPr>
          <p:spPr>
            <a:xfrm>
              <a:off x="7412038" y="5081588"/>
              <a:ext cx="114300" cy="558800"/>
            </a:xfrm>
            <a:custGeom>
              <a:avLst/>
              <a:gdLst/>
              <a:ahLst/>
              <a:cxnLst/>
              <a:rect l="l" t="t" r="r" b="b"/>
              <a:pathLst>
                <a:path w="29" h="141" extrusionOk="0">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34" name="Google Shape;34;p1"/>
            <p:cNvSpPr/>
            <p:nvPr/>
          </p:nvSpPr>
          <p:spPr>
            <a:xfrm>
              <a:off x="7412038" y="4978400"/>
              <a:ext cx="31750" cy="188913"/>
            </a:xfrm>
            <a:custGeom>
              <a:avLst/>
              <a:gdLst/>
              <a:ahLst/>
              <a:cxnLst/>
              <a:rect l="l" t="t" r="r" b="b"/>
              <a:pathLst>
                <a:path w="8" h="48" extrusionOk="0">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35" name="Google Shape;35;p1"/>
            <p:cNvSpPr/>
            <p:nvPr/>
          </p:nvSpPr>
          <p:spPr>
            <a:xfrm>
              <a:off x="7439026" y="5434013"/>
              <a:ext cx="174625" cy="439738"/>
            </a:xfrm>
            <a:custGeom>
              <a:avLst/>
              <a:gdLst/>
              <a:ahLst/>
              <a:cxnLst/>
              <a:rect l="l" t="t" r="r" b="b"/>
              <a:pathLst>
                <a:path w="44" h="111" extrusionOk="0">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grpSp>
      <p:sp>
        <p:nvSpPr>
          <p:cNvPr id="36" name="Google Shape;36;p1"/>
          <p:cNvSpPr/>
          <p:nvPr/>
        </p:nvSpPr>
        <p:spPr>
          <a:xfrm>
            <a:off x="0" y="0"/>
            <a:ext cx="182562" cy="6858000"/>
          </a:xfrm>
          <a:prstGeom prst="rect">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37" name="Google Shape;37;p1"/>
          <p:cNvSpPr/>
          <p:nvPr/>
        </p:nvSpPr>
        <p:spPr>
          <a:xfrm>
            <a:off x="-31750" y="4321175"/>
            <a:ext cx="1395412" cy="781050"/>
          </a:xfrm>
          <a:custGeom>
            <a:avLst/>
            <a:gdLst/>
            <a:ahLst/>
            <a:cxnLst/>
            <a:rect l="l" t="t" r="r" b="b"/>
            <a:pathLst>
              <a:path w="8042" h="10000" extrusionOk="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38" name="Google Shape;38;p1"/>
          <p:cNvSpPr txBox="1">
            <a:spLocks noGrp="1"/>
          </p:cNvSpPr>
          <p:nvPr>
            <p:ph type="title"/>
          </p:nvPr>
        </p:nvSpPr>
        <p:spPr>
          <a:xfrm>
            <a:off x="1944687" y="623887"/>
            <a:ext cx="6589712" cy="128111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3600" b="0" i="0" u="none" strike="noStrike" cap="none">
                <a:solidFill>
                  <a:srgbClr val="1581AA"/>
                </a:solidFill>
                <a:latin typeface="Century Gothic"/>
                <a:ea typeface="Century Gothic"/>
                <a:cs typeface="Century Gothic"/>
                <a:sym typeface="Century Gothic"/>
              </a:defRPr>
            </a:lvl1pPr>
            <a:lvl2pPr marR="0" lvl="1" algn="l" rtl="0">
              <a:spcBef>
                <a:spcPts val="0"/>
              </a:spcBef>
              <a:spcAft>
                <a:spcPts val="0"/>
              </a:spcAft>
              <a:buSzPts val="1400"/>
              <a:buNone/>
              <a:defRPr sz="3600" b="0" i="0" u="none" strike="noStrike" cap="none">
                <a:solidFill>
                  <a:srgbClr val="1581AA"/>
                </a:solidFill>
                <a:latin typeface="Century Gothic"/>
                <a:ea typeface="Century Gothic"/>
                <a:cs typeface="Century Gothic"/>
                <a:sym typeface="Century Gothic"/>
              </a:defRPr>
            </a:lvl2pPr>
            <a:lvl3pPr marR="0" lvl="2" algn="l" rtl="0">
              <a:spcBef>
                <a:spcPts val="0"/>
              </a:spcBef>
              <a:spcAft>
                <a:spcPts val="0"/>
              </a:spcAft>
              <a:buSzPts val="1400"/>
              <a:buNone/>
              <a:defRPr sz="3600" b="0" i="0" u="none" strike="noStrike" cap="none">
                <a:solidFill>
                  <a:srgbClr val="1581AA"/>
                </a:solidFill>
                <a:latin typeface="Century Gothic"/>
                <a:ea typeface="Century Gothic"/>
                <a:cs typeface="Century Gothic"/>
                <a:sym typeface="Century Gothic"/>
              </a:defRPr>
            </a:lvl3pPr>
            <a:lvl4pPr marR="0" lvl="3" algn="l" rtl="0">
              <a:spcBef>
                <a:spcPts val="0"/>
              </a:spcBef>
              <a:spcAft>
                <a:spcPts val="0"/>
              </a:spcAft>
              <a:buSzPts val="1400"/>
              <a:buNone/>
              <a:defRPr sz="3600" b="0" i="0" u="none" strike="noStrike" cap="none">
                <a:solidFill>
                  <a:srgbClr val="1581AA"/>
                </a:solidFill>
                <a:latin typeface="Century Gothic"/>
                <a:ea typeface="Century Gothic"/>
                <a:cs typeface="Century Gothic"/>
                <a:sym typeface="Century Gothic"/>
              </a:defRPr>
            </a:lvl4pPr>
            <a:lvl5pPr marR="0" lvl="4" algn="l" rtl="0">
              <a:spcBef>
                <a:spcPts val="0"/>
              </a:spcBef>
              <a:spcAft>
                <a:spcPts val="0"/>
              </a:spcAft>
              <a:buSzPts val="1400"/>
              <a:buNone/>
              <a:defRPr sz="3600" b="0" i="0" u="none" strike="noStrike" cap="none">
                <a:solidFill>
                  <a:srgbClr val="1581AA"/>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39" name="Google Shape;39;p1"/>
          <p:cNvSpPr txBox="1">
            <a:spLocks noGrp="1"/>
          </p:cNvSpPr>
          <p:nvPr>
            <p:ph type="body" idx="1"/>
          </p:nvPr>
        </p:nvSpPr>
        <p:spPr>
          <a:xfrm>
            <a:off x="1943100" y="2133600"/>
            <a:ext cx="6591300" cy="3886200"/>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1000"/>
              </a:spcBef>
              <a:spcAft>
                <a:spcPts val="0"/>
              </a:spcAft>
              <a:buClr>
                <a:schemeClr val="accent1"/>
              </a:buClr>
              <a:buSzPts val="1800"/>
              <a:buFont typeface="Noto Sans Symbols"/>
              <a:buChar char="🠶"/>
              <a:defRPr sz="1800" b="0" i="0" u="none" strike="noStrike" cap="none">
                <a:solidFill>
                  <a:srgbClr val="404040"/>
                </a:solidFill>
                <a:latin typeface="Century Gothic"/>
                <a:ea typeface="Century Gothic"/>
                <a:cs typeface="Century Gothic"/>
                <a:sym typeface="Century Gothic"/>
              </a:defRPr>
            </a:lvl1pPr>
            <a:lvl2pPr marL="914400" marR="0" lvl="1" indent="-330200" algn="l" rtl="0">
              <a:spcBef>
                <a:spcPts val="1000"/>
              </a:spcBef>
              <a:spcAft>
                <a:spcPts val="0"/>
              </a:spcAft>
              <a:buClr>
                <a:schemeClr val="accent1"/>
              </a:buClr>
              <a:buSzPts val="1600"/>
              <a:buFont typeface="Noto Sans Symbols"/>
              <a:buChar char="🠶"/>
              <a:defRPr sz="1600" b="0" i="0" u="none" strike="noStrike" cap="none">
                <a:solidFill>
                  <a:srgbClr val="404040"/>
                </a:solidFill>
                <a:latin typeface="Century Gothic"/>
                <a:ea typeface="Century Gothic"/>
                <a:cs typeface="Century Gothic"/>
                <a:sym typeface="Century Gothic"/>
              </a:defRPr>
            </a:lvl2pPr>
            <a:lvl3pPr marL="1371600" marR="0" lvl="2" indent="-317500" algn="l" rtl="0">
              <a:spcBef>
                <a:spcPts val="1000"/>
              </a:spcBef>
              <a:spcAft>
                <a:spcPts val="0"/>
              </a:spcAft>
              <a:buClr>
                <a:schemeClr val="accent1"/>
              </a:buClr>
              <a:buSzPts val="1400"/>
              <a:buFont typeface="Noto Sans Symbols"/>
              <a:buChar char="🠶"/>
              <a:defRPr sz="1400" b="0" i="0" u="none" strike="noStrike" cap="none">
                <a:solidFill>
                  <a:srgbClr val="404040"/>
                </a:solidFill>
                <a:latin typeface="Century Gothic"/>
                <a:ea typeface="Century Gothic"/>
                <a:cs typeface="Century Gothic"/>
                <a:sym typeface="Century Gothic"/>
              </a:defRPr>
            </a:lvl3pPr>
            <a:lvl4pPr marL="1828800" marR="0" lvl="3" indent="-304800" algn="l" rtl="0">
              <a:spcBef>
                <a:spcPts val="1000"/>
              </a:spcBef>
              <a:spcAft>
                <a:spcPts val="0"/>
              </a:spcAft>
              <a:buClr>
                <a:schemeClr val="accent1"/>
              </a:buClr>
              <a:buSzPts val="1200"/>
              <a:buFont typeface="Noto Sans Symbols"/>
              <a:buChar char="🠶"/>
              <a:defRPr sz="1200" b="0" i="0" u="none" strike="noStrike" cap="none">
                <a:solidFill>
                  <a:srgbClr val="404040"/>
                </a:solidFill>
                <a:latin typeface="Century Gothic"/>
                <a:ea typeface="Century Gothic"/>
                <a:cs typeface="Century Gothic"/>
                <a:sym typeface="Century Gothic"/>
              </a:defRPr>
            </a:lvl4pPr>
            <a:lvl5pPr marL="2286000" marR="0" lvl="4" indent="-304800" algn="l" rtl="0">
              <a:spcBef>
                <a:spcPts val="1000"/>
              </a:spcBef>
              <a:spcAft>
                <a:spcPts val="0"/>
              </a:spcAft>
              <a:buClr>
                <a:schemeClr val="accent1"/>
              </a:buClr>
              <a:buSzPts val="1200"/>
              <a:buFont typeface="Noto Sans Symbols"/>
              <a:buChar char="🠶"/>
              <a:defRPr sz="1200" b="0" i="0" u="none" strike="noStrike" cap="none">
                <a:solidFill>
                  <a:srgbClr val="404040"/>
                </a:solidFill>
                <a:latin typeface="Century Gothic"/>
                <a:ea typeface="Century Gothic"/>
                <a:cs typeface="Century Gothic"/>
                <a:sym typeface="Century Gothic"/>
              </a:defRPr>
            </a:lvl5pPr>
            <a:lvl6pPr marL="2743200" marR="0" lvl="5"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6pPr>
            <a:lvl7pPr marL="3200400" marR="0" lvl="6"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7pPr>
            <a:lvl8pPr marL="3657600" marR="0" lvl="7"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8pPr>
            <a:lvl9pPr marL="4114800" marR="0" lvl="8"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9pPr>
          </a:lstStyle>
          <a:p>
            <a:endParaRPr/>
          </a:p>
        </p:txBody>
      </p:sp>
      <p:sp>
        <p:nvSpPr>
          <p:cNvPr id="40" name="Google Shape;40;p1"/>
          <p:cNvSpPr txBox="1">
            <a:spLocks noGrp="1"/>
          </p:cNvSpPr>
          <p:nvPr>
            <p:ph type="sldNum" idx="12"/>
          </p:nvPr>
        </p:nvSpPr>
        <p:spPr>
          <a:xfrm>
            <a:off x="423862" y="4529137"/>
            <a:ext cx="584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EFFFF"/>
              </a:buClr>
              <a:buSzPts val="2000"/>
              <a:buFont typeface="Century Gothic"/>
              <a:buNone/>
              <a:defRPr sz="2000" b="0" i="0" u="none">
                <a:solidFill>
                  <a:srgbClr val="FEFFFF"/>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FEFFFF"/>
              </a:buClr>
              <a:buSzPts val="2000"/>
              <a:buFont typeface="Century Gothic"/>
              <a:buNone/>
              <a:defRPr sz="2000" b="0" i="0" u="none">
                <a:solidFill>
                  <a:srgbClr val="FEFFFF"/>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FEFFFF"/>
              </a:buClr>
              <a:buSzPts val="2000"/>
              <a:buFont typeface="Century Gothic"/>
              <a:buNone/>
              <a:defRPr sz="2000" b="0" i="0" u="none">
                <a:solidFill>
                  <a:srgbClr val="FEFFFF"/>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FEFFFF"/>
              </a:buClr>
              <a:buSzPts val="2000"/>
              <a:buFont typeface="Century Gothic"/>
              <a:buNone/>
              <a:defRPr sz="2000" b="0" i="0" u="none">
                <a:solidFill>
                  <a:srgbClr val="FEFFFF"/>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FEFFFF"/>
              </a:buClr>
              <a:buSzPts val="2000"/>
              <a:buFont typeface="Century Gothic"/>
              <a:buNone/>
              <a:defRPr sz="2000" b="0" i="0" u="none">
                <a:solidFill>
                  <a:srgbClr val="FEFFFF"/>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FEFFFF"/>
              </a:buClr>
              <a:buSzPts val="2000"/>
              <a:buFont typeface="Century Gothic"/>
              <a:buNone/>
              <a:defRPr sz="2000" b="0" i="0" u="none">
                <a:solidFill>
                  <a:srgbClr val="FEFFFF"/>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FEFFFF"/>
              </a:buClr>
              <a:buSzPts val="2000"/>
              <a:buFont typeface="Century Gothic"/>
              <a:buNone/>
              <a:defRPr sz="2000" b="0" i="0" u="none">
                <a:solidFill>
                  <a:srgbClr val="FEFFFF"/>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FEFFFF"/>
              </a:buClr>
              <a:buSzPts val="2000"/>
              <a:buFont typeface="Century Gothic"/>
              <a:buNone/>
              <a:defRPr sz="2000" b="0" i="0" u="none">
                <a:solidFill>
                  <a:srgbClr val="FEFFFF"/>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FEFFFF"/>
              </a:buClr>
              <a:buSzPts val="2000"/>
              <a:buFont typeface="Century Gothic"/>
              <a:buNone/>
              <a:defRPr sz="2000" b="0" i="0" u="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C5DEE5"/>
            </a:gs>
          </a:gsLst>
          <a:lin ang="5400000" scaled="0"/>
        </a:gradFill>
        <a:effectLst/>
      </p:bgPr>
    </p:bg>
    <p:spTree>
      <p:nvGrpSpPr>
        <p:cNvPr id="1" name="Shape 45"/>
        <p:cNvGrpSpPr/>
        <p:nvPr/>
      </p:nvGrpSpPr>
      <p:grpSpPr>
        <a:xfrm>
          <a:off x="0" y="0"/>
          <a:ext cx="0" cy="0"/>
          <a:chOff x="0" y="0"/>
          <a:chExt cx="0" cy="0"/>
        </a:xfrm>
      </p:grpSpPr>
      <p:grpSp>
        <p:nvGrpSpPr>
          <p:cNvPr id="46" name="Google Shape;46;p3"/>
          <p:cNvGrpSpPr/>
          <p:nvPr/>
        </p:nvGrpSpPr>
        <p:grpSpPr>
          <a:xfrm>
            <a:off x="0" y="228600"/>
            <a:ext cx="1981200" cy="6638925"/>
            <a:chOff x="2487613" y="285750"/>
            <a:chExt cx="2428875" cy="5654676"/>
          </a:xfrm>
        </p:grpSpPr>
        <p:sp>
          <p:nvSpPr>
            <p:cNvPr id="47" name="Google Shape;47;p3"/>
            <p:cNvSpPr/>
            <p:nvPr/>
          </p:nvSpPr>
          <p:spPr>
            <a:xfrm>
              <a:off x="2487613" y="2284413"/>
              <a:ext cx="85725" cy="533400"/>
            </a:xfrm>
            <a:custGeom>
              <a:avLst/>
              <a:gdLst/>
              <a:ahLst/>
              <a:cxnLst/>
              <a:rect l="l" t="t" r="r" b="b"/>
              <a:pathLst>
                <a:path w="22" h="136" extrusionOk="0">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48" name="Google Shape;48;p3"/>
            <p:cNvSpPr/>
            <p:nvPr/>
          </p:nvSpPr>
          <p:spPr>
            <a:xfrm>
              <a:off x="2597151" y="2779713"/>
              <a:ext cx="550863" cy="1978025"/>
            </a:xfrm>
            <a:custGeom>
              <a:avLst/>
              <a:gdLst/>
              <a:ahLst/>
              <a:cxnLst/>
              <a:rect l="l" t="t" r="r" b="b"/>
              <a:pathLst>
                <a:path w="140" h="504" extrusionOk="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49" name="Google Shape;49;p3"/>
            <p:cNvSpPr/>
            <p:nvPr/>
          </p:nvSpPr>
          <p:spPr>
            <a:xfrm>
              <a:off x="3175001" y="4730750"/>
              <a:ext cx="519113" cy="1209675"/>
            </a:xfrm>
            <a:custGeom>
              <a:avLst/>
              <a:gdLst/>
              <a:ahLst/>
              <a:cxnLst/>
              <a:rect l="l" t="t" r="r" b="b"/>
              <a:pathLst>
                <a:path w="132" h="308" extrusionOk="0">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50" name="Google Shape;50;p3"/>
            <p:cNvSpPr/>
            <p:nvPr/>
          </p:nvSpPr>
          <p:spPr>
            <a:xfrm>
              <a:off x="3305176" y="5630863"/>
              <a:ext cx="146050" cy="309563"/>
            </a:xfrm>
            <a:custGeom>
              <a:avLst/>
              <a:gdLst/>
              <a:ahLst/>
              <a:cxnLst/>
              <a:rect l="l" t="t" r="r" b="b"/>
              <a:pathLst>
                <a:path w="37" h="79" extrusionOk="0">
                  <a:moveTo>
                    <a:pt x="28" y="79"/>
                  </a:moveTo>
                  <a:cubicBezTo>
                    <a:pt x="37" y="79"/>
                    <a:pt x="37" y="79"/>
                    <a:pt x="37" y="79"/>
                  </a:cubicBezTo>
                  <a:cubicBezTo>
                    <a:pt x="24" y="53"/>
                    <a:pt x="12" y="27"/>
                    <a:pt x="0" y="0"/>
                  </a:cubicBezTo>
                  <a:cubicBezTo>
                    <a:pt x="8" y="27"/>
                    <a:pt x="17" y="53"/>
                    <a:pt x="28" y="79"/>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51" name="Google Shape;51;p3"/>
            <p:cNvSpPr/>
            <p:nvPr/>
          </p:nvSpPr>
          <p:spPr>
            <a:xfrm>
              <a:off x="2573338" y="2817813"/>
              <a:ext cx="700088" cy="2835275"/>
            </a:xfrm>
            <a:custGeom>
              <a:avLst/>
              <a:gdLst/>
              <a:ahLst/>
              <a:cxnLst/>
              <a:rect l="l" t="t" r="r" b="b"/>
              <a:pathLst>
                <a:path w="178" h="722" extrusionOk="0">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52" name="Google Shape;52;p3"/>
            <p:cNvSpPr/>
            <p:nvPr/>
          </p:nvSpPr>
          <p:spPr>
            <a:xfrm>
              <a:off x="2506663" y="285750"/>
              <a:ext cx="90488" cy="2493963"/>
            </a:xfrm>
            <a:custGeom>
              <a:avLst/>
              <a:gdLst/>
              <a:ahLst/>
              <a:cxnLst/>
              <a:rect l="l" t="t" r="r" b="b"/>
              <a:pathLst>
                <a:path w="23" h="635" extrusionOk="0">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53" name="Google Shape;53;p3"/>
            <p:cNvSpPr/>
            <p:nvPr/>
          </p:nvSpPr>
          <p:spPr>
            <a:xfrm>
              <a:off x="2554288" y="2598738"/>
              <a:ext cx="66675" cy="420688"/>
            </a:xfrm>
            <a:custGeom>
              <a:avLst/>
              <a:gdLst/>
              <a:ahLst/>
              <a:cxnLst/>
              <a:rect l="l" t="t" r="r" b="b"/>
              <a:pathLst>
                <a:path w="17" h="107" extrusionOk="0">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54" name="Google Shape;54;p3"/>
            <p:cNvSpPr/>
            <p:nvPr/>
          </p:nvSpPr>
          <p:spPr>
            <a:xfrm>
              <a:off x="3143251" y="4757738"/>
              <a:ext cx="161925" cy="873125"/>
            </a:xfrm>
            <a:custGeom>
              <a:avLst/>
              <a:gdLst/>
              <a:ahLst/>
              <a:cxnLst/>
              <a:rect l="l" t="t" r="r" b="b"/>
              <a:pathLst>
                <a:path w="41" h="222" extrusionOk="0">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55" name="Google Shape;55;p3"/>
            <p:cNvSpPr/>
            <p:nvPr/>
          </p:nvSpPr>
          <p:spPr>
            <a:xfrm>
              <a:off x="3148013" y="1282700"/>
              <a:ext cx="1768475" cy="3448050"/>
            </a:xfrm>
            <a:custGeom>
              <a:avLst/>
              <a:gdLst/>
              <a:ahLst/>
              <a:cxnLst/>
              <a:rect l="l" t="t" r="r" b="b"/>
              <a:pathLst>
                <a:path w="450" h="878" extrusionOk="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56" name="Google Shape;56;p3"/>
            <p:cNvSpPr/>
            <p:nvPr/>
          </p:nvSpPr>
          <p:spPr>
            <a:xfrm>
              <a:off x="3273426" y="5653088"/>
              <a:ext cx="138113" cy="287338"/>
            </a:xfrm>
            <a:custGeom>
              <a:avLst/>
              <a:gdLst/>
              <a:ahLst/>
              <a:cxnLst/>
              <a:rect l="l" t="t" r="r" b="b"/>
              <a:pathLst>
                <a:path w="35" h="73" extrusionOk="0">
                  <a:moveTo>
                    <a:pt x="0" y="0"/>
                  </a:moveTo>
                  <a:cubicBezTo>
                    <a:pt x="7" y="24"/>
                    <a:pt x="16" y="49"/>
                    <a:pt x="26" y="73"/>
                  </a:cubicBezTo>
                  <a:cubicBezTo>
                    <a:pt x="35" y="73"/>
                    <a:pt x="35" y="73"/>
                    <a:pt x="35" y="73"/>
                  </a:cubicBezTo>
                  <a:cubicBezTo>
                    <a:pt x="23" y="49"/>
                    <a:pt x="11" y="24"/>
                    <a:pt x="0" y="0"/>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57" name="Google Shape;57;p3"/>
            <p:cNvSpPr/>
            <p:nvPr/>
          </p:nvSpPr>
          <p:spPr>
            <a:xfrm>
              <a:off x="3143251" y="4656138"/>
              <a:ext cx="31750" cy="188913"/>
            </a:xfrm>
            <a:custGeom>
              <a:avLst/>
              <a:gdLst/>
              <a:ahLst/>
              <a:cxnLst/>
              <a:rect l="l" t="t" r="r" b="b"/>
              <a:pathLst>
                <a:path w="8" h="48" extrusionOk="0">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58" name="Google Shape;58;p3"/>
            <p:cNvSpPr/>
            <p:nvPr/>
          </p:nvSpPr>
          <p:spPr>
            <a:xfrm>
              <a:off x="3211513" y="5410200"/>
              <a:ext cx="203200" cy="530225"/>
            </a:xfrm>
            <a:custGeom>
              <a:avLst/>
              <a:gdLst/>
              <a:ahLst/>
              <a:cxnLst/>
              <a:rect l="l" t="t" r="r" b="b"/>
              <a:pathLst>
                <a:path w="52" h="135" extrusionOk="0">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19607"/>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grpSp>
      <p:grpSp>
        <p:nvGrpSpPr>
          <p:cNvPr id="59" name="Google Shape;59;p3"/>
          <p:cNvGrpSpPr/>
          <p:nvPr/>
        </p:nvGrpSpPr>
        <p:grpSpPr>
          <a:xfrm>
            <a:off x="20637" y="0"/>
            <a:ext cx="1952625" cy="6853237"/>
            <a:chOff x="6627813" y="196102"/>
            <a:chExt cx="1952625" cy="5677649"/>
          </a:xfrm>
        </p:grpSpPr>
        <p:sp>
          <p:nvSpPr>
            <p:cNvPr id="60" name="Google Shape;60;p3"/>
            <p:cNvSpPr/>
            <p:nvPr/>
          </p:nvSpPr>
          <p:spPr>
            <a:xfrm>
              <a:off x="6627813" y="196102"/>
              <a:ext cx="409575" cy="3646488"/>
            </a:xfrm>
            <a:custGeom>
              <a:avLst/>
              <a:gdLst/>
              <a:ahLst/>
              <a:cxnLst/>
              <a:rect l="l" t="t" r="r" b="b"/>
              <a:pathLst>
                <a:path w="103" h="920" extrusionOk="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61" name="Google Shape;61;p3"/>
            <p:cNvSpPr/>
            <p:nvPr/>
          </p:nvSpPr>
          <p:spPr>
            <a:xfrm>
              <a:off x="7061201" y="3771900"/>
              <a:ext cx="350838" cy="1309688"/>
            </a:xfrm>
            <a:custGeom>
              <a:avLst/>
              <a:gdLst/>
              <a:ahLst/>
              <a:cxnLst/>
              <a:rect l="l" t="t" r="r" b="b"/>
              <a:pathLst>
                <a:path w="88" h="330" extrusionOk="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62" name="Google Shape;62;p3"/>
            <p:cNvSpPr/>
            <p:nvPr/>
          </p:nvSpPr>
          <p:spPr>
            <a:xfrm>
              <a:off x="7439026" y="5053013"/>
              <a:ext cx="357188" cy="820738"/>
            </a:xfrm>
            <a:custGeom>
              <a:avLst/>
              <a:gdLst/>
              <a:ahLst/>
              <a:cxnLst/>
              <a:rect l="l" t="t" r="r" b="b"/>
              <a:pathLst>
                <a:path w="90" h="207" extrusionOk="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63" name="Google Shape;63;p3"/>
            <p:cNvSpPr/>
            <p:nvPr/>
          </p:nvSpPr>
          <p:spPr>
            <a:xfrm>
              <a:off x="7037388" y="3811588"/>
              <a:ext cx="457200" cy="1852613"/>
            </a:xfrm>
            <a:custGeom>
              <a:avLst/>
              <a:gdLst/>
              <a:ahLst/>
              <a:cxnLst/>
              <a:rect l="l" t="t" r="r" b="b"/>
              <a:pathLst>
                <a:path w="115" h="467" extrusionOk="0">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64" name="Google Shape;64;p3"/>
            <p:cNvSpPr/>
            <p:nvPr/>
          </p:nvSpPr>
          <p:spPr>
            <a:xfrm>
              <a:off x="6992938" y="1263650"/>
              <a:ext cx="144463" cy="2508250"/>
            </a:xfrm>
            <a:custGeom>
              <a:avLst/>
              <a:gdLst/>
              <a:ahLst/>
              <a:cxnLst/>
              <a:rect l="l" t="t" r="r" b="b"/>
              <a:pathLst>
                <a:path w="36" h="633" extrusionOk="0">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65" name="Google Shape;65;p3"/>
            <p:cNvSpPr/>
            <p:nvPr/>
          </p:nvSpPr>
          <p:spPr>
            <a:xfrm>
              <a:off x="7526338" y="5640388"/>
              <a:ext cx="111125" cy="233363"/>
            </a:xfrm>
            <a:custGeom>
              <a:avLst/>
              <a:gdLst/>
              <a:ahLst/>
              <a:cxnLst/>
              <a:rect l="l" t="t" r="r" b="b"/>
              <a:pathLst>
                <a:path w="28" h="59" extrusionOk="0">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66" name="Google Shape;66;p3"/>
            <p:cNvSpPr/>
            <p:nvPr/>
          </p:nvSpPr>
          <p:spPr>
            <a:xfrm>
              <a:off x="7021513" y="3598863"/>
              <a:ext cx="68263" cy="423863"/>
            </a:xfrm>
            <a:custGeom>
              <a:avLst/>
              <a:gdLst/>
              <a:ahLst/>
              <a:cxnLst/>
              <a:rect l="l" t="t" r="r" b="b"/>
              <a:pathLst>
                <a:path w="17" h="107" extrusionOk="0">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67" name="Google Shape;67;p3"/>
            <p:cNvSpPr/>
            <p:nvPr/>
          </p:nvSpPr>
          <p:spPr>
            <a:xfrm>
              <a:off x="7412038" y="2801938"/>
              <a:ext cx="1168400" cy="2251075"/>
            </a:xfrm>
            <a:custGeom>
              <a:avLst/>
              <a:gdLst/>
              <a:ahLst/>
              <a:cxnLst/>
              <a:rect l="l" t="t" r="r" b="b"/>
              <a:pathLst>
                <a:path w="294" h="568" extrusionOk="0">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68" name="Google Shape;68;p3"/>
            <p:cNvSpPr/>
            <p:nvPr/>
          </p:nvSpPr>
          <p:spPr>
            <a:xfrm>
              <a:off x="7494588" y="5664200"/>
              <a:ext cx="100013" cy="209550"/>
            </a:xfrm>
            <a:custGeom>
              <a:avLst/>
              <a:gdLst/>
              <a:ahLst/>
              <a:cxnLst/>
              <a:rect l="l" t="t" r="r" b="b"/>
              <a:pathLst>
                <a:path w="25" h="53" extrusionOk="0">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69" name="Google Shape;69;p3"/>
            <p:cNvSpPr/>
            <p:nvPr/>
          </p:nvSpPr>
          <p:spPr>
            <a:xfrm>
              <a:off x="7412038" y="5081588"/>
              <a:ext cx="114300" cy="558800"/>
            </a:xfrm>
            <a:custGeom>
              <a:avLst/>
              <a:gdLst/>
              <a:ahLst/>
              <a:cxnLst/>
              <a:rect l="l" t="t" r="r" b="b"/>
              <a:pathLst>
                <a:path w="29" h="141" extrusionOk="0">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70" name="Google Shape;70;p3"/>
            <p:cNvSpPr/>
            <p:nvPr/>
          </p:nvSpPr>
          <p:spPr>
            <a:xfrm>
              <a:off x="7412038" y="4978400"/>
              <a:ext cx="31750" cy="188913"/>
            </a:xfrm>
            <a:custGeom>
              <a:avLst/>
              <a:gdLst/>
              <a:ahLst/>
              <a:cxnLst/>
              <a:rect l="l" t="t" r="r" b="b"/>
              <a:pathLst>
                <a:path w="8" h="48" extrusionOk="0">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71" name="Google Shape;71;p3"/>
            <p:cNvSpPr/>
            <p:nvPr/>
          </p:nvSpPr>
          <p:spPr>
            <a:xfrm>
              <a:off x="7439026" y="5434013"/>
              <a:ext cx="174625" cy="439738"/>
            </a:xfrm>
            <a:custGeom>
              <a:avLst/>
              <a:gdLst/>
              <a:ahLst/>
              <a:cxnLst/>
              <a:rect l="l" t="t" r="r" b="b"/>
              <a:pathLst>
                <a:path w="44" h="111" extrusionOk="0">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grpSp>
      <p:sp>
        <p:nvSpPr>
          <p:cNvPr id="72" name="Google Shape;72;p3"/>
          <p:cNvSpPr/>
          <p:nvPr/>
        </p:nvSpPr>
        <p:spPr>
          <a:xfrm>
            <a:off x="0" y="0"/>
            <a:ext cx="182562" cy="6858000"/>
          </a:xfrm>
          <a:prstGeom prst="rect">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73" name="Google Shape;73;p3"/>
          <p:cNvSpPr/>
          <p:nvPr/>
        </p:nvSpPr>
        <p:spPr>
          <a:xfrm rot="10800000" flipH="1">
            <a:off x="0" y="711200"/>
            <a:ext cx="1358900" cy="508000"/>
          </a:xfrm>
          <a:custGeom>
            <a:avLst/>
            <a:gdLst/>
            <a:ahLst/>
            <a:cxnLst/>
            <a:rect l="l" t="t" r="r" b="b"/>
            <a:pathLst>
              <a:path w="7908" h="10000" extrusionOk="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entury Gothic"/>
              <a:ea typeface="Century Gothic"/>
              <a:cs typeface="Century Gothic"/>
              <a:sym typeface="Century Gothic"/>
            </a:endParaRPr>
          </a:p>
        </p:txBody>
      </p:sp>
      <p:sp>
        <p:nvSpPr>
          <p:cNvPr id="74" name="Google Shape;74;p3"/>
          <p:cNvSpPr txBox="1">
            <a:spLocks noGrp="1"/>
          </p:cNvSpPr>
          <p:nvPr>
            <p:ph type="title"/>
          </p:nvPr>
        </p:nvSpPr>
        <p:spPr>
          <a:xfrm>
            <a:off x="1944687" y="623887"/>
            <a:ext cx="6589712" cy="128111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3600" b="0" i="0" u="none" strike="noStrike" cap="none">
                <a:solidFill>
                  <a:srgbClr val="1581AA"/>
                </a:solidFill>
                <a:latin typeface="Century Gothic"/>
                <a:ea typeface="Century Gothic"/>
                <a:cs typeface="Century Gothic"/>
                <a:sym typeface="Century Gothic"/>
              </a:defRPr>
            </a:lvl1pPr>
            <a:lvl2pPr marR="0" lvl="1" algn="l" rtl="0">
              <a:spcBef>
                <a:spcPts val="0"/>
              </a:spcBef>
              <a:spcAft>
                <a:spcPts val="0"/>
              </a:spcAft>
              <a:buSzPts val="1400"/>
              <a:buNone/>
              <a:defRPr sz="3600" b="0" i="0" u="none" strike="noStrike" cap="none">
                <a:solidFill>
                  <a:srgbClr val="1581AA"/>
                </a:solidFill>
                <a:latin typeface="Century Gothic"/>
                <a:ea typeface="Century Gothic"/>
                <a:cs typeface="Century Gothic"/>
                <a:sym typeface="Century Gothic"/>
              </a:defRPr>
            </a:lvl2pPr>
            <a:lvl3pPr marR="0" lvl="2" algn="l" rtl="0">
              <a:spcBef>
                <a:spcPts val="0"/>
              </a:spcBef>
              <a:spcAft>
                <a:spcPts val="0"/>
              </a:spcAft>
              <a:buSzPts val="1400"/>
              <a:buNone/>
              <a:defRPr sz="3600" b="0" i="0" u="none" strike="noStrike" cap="none">
                <a:solidFill>
                  <a:srgbClr val="1581AA"/>
                </a:solidFill>
                <a:latin typeface="Century Gothic"/>
                <a:ea typeface="Century Gothic"/>
                <a:cs typeface="Century Gothic"/>
                <a:sym typeface="Century Gothic"/>
              </a:defRPr>
            </a:lvl3pPr>
            <a:lvl4pPr marR="0" lvl="3" algn="l" rtl="0">
              <a:spcBef>
                <a:spcPts val="0"/>
              </a:spcBef>
              <a:spcAft>
                <a:spcPts val="0"/>
              </a:spcAft>
              <a:buSzPts val="1400"/>
              <a:buNone/>
              <a:defRPr sz="3600" b="0" i="0" u="none" strike="noStrike" cap="none">
                <a:solidFill>
                  <a:srgbClr val="1581AA"/>
                </a:solidFill>
                <a:latin typeface="Century Gothic"/>
                <a:ea typeface="Century Gothic"/>
                <a:cs typeface="Century Gothic"/>
                <a:sym typeface="Century Gothic"/>
              </a:defRPr>
            </a:lvl4pPr>
            <a:lvl5pPr marR="0" lvl="4" algn="l" rtl="0">
              <a:spcBef>
                <a:spcPts val="0"/>
              </a:spcBef>
              <a:spcAft>
                <a:spcPts val="0"/>
              </a:spcAft>
              <a:buSzPts val="1400"/>
              <a:buNone/>
              <a:defRPr sz="3600" b="0" i="0" u="none" strike="noStrike" cap="none">
                <a:solidFill>
                  <a:srgbClr val="1581AA"/>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75" name="Google Shape;75;p3"/>
          <p:cNvSpPr txBox="1">
            <a:spLocks noGrp="1"/>
          </p:cNvSpPr>
          <p:nvPr>
            <p:ph type="body" idx="1"/>
          </p:nvPr>
        </p:nvSpPr>
        <p:spPr>
          <a:xfrm>
            <a:off x="1943100" y="2133600"/>
            <a:ext cx="6591300" cy="3886200"/>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1000"/>
              </a:spcBef>
              <a:spcAft>
                <a:spcPts val="0"/>
              </a:spcAft>
              <a:buClr>
                <a:schemeClr val="accent1"/>
              </a:buClr>
              <a:buSzPts val="1800"/>
              <a:buFont typeface="Noto Sans Symbols"/>
              <a:buChar char="🠶"/>
              <a:defRPr sz="1800" b="0" i="0" u="none" strike="noStrike" cap="none">
                <a:solidFill>
                  <a:srgbClr val="404040"/>
                </a:solidFill>
                <a:latin typeface="Century Gothic"/>
                <a:ea typeface="Century Gothic"/>
                <a:cs typeface="Century Gothic"/>
                <a:sym typeface="Century Gothic"/>
              </a:defRPr>
            </a:lvl1pPr>
            <a:lvl2pPr marL="914400" marR="0" lvl="1" indent="-330200" algn="l" rtl="0">
              <a:spcBef>
                <a:spcPts val="1000"/>
              </a:spcBef>
              <a:spcAft>
                <a:spcPts val="0"/>
              </a:spcAft>
              <a:buClr>
                <a:schemeClr val="accent1"/>
              </a:buClr>
              <a:buSzPts val="1600"/>
              <a:buFont typeface="Noto Sans Symbols"/>
              <a:buChar char="🠶"/>
              <a:defRPr sz="1600" b="0" i="0" u="none" strike="noStrike" cap="none">
                <a:solidFill>
                  <a:srgbClr val="404040"/>
                </a:solidFill>
                <a:latin typeface="Century Gothic"/>
                <a:ea typeface="Century Gothic"/>
                <a:cs typeface="Century Gothic"/>
                <a:sym typeface="Century Gothic"/>
              </a:defRPr>
            </a:lvl2pPr>
            <a:lvl3pPr marL="1371600" marR="0" lvl="2" indent="-317500" algn="l" rtl="0">
              <a:spcBef>
                <a:spcPts val="1000"/>
              </a:spcBef>
              <a:spcAft>
                <a:spcPts val="0"/>
              </a:spcAft>
              <a:buClr>
                <a:schemeClr val="accent1"/>
              </a:buClr>
              <a:buSzPts val="1400"/>
              <a:buFont typeface="Noto Sans Symbols"/>
              <a:buChar char="🠶"/>
              <a:defRPr sz="1400" b="0" i="0" u="none" strike="noStrike" cap="none">
                <a:solidFill>
                  <a:srgbClr val="404040"/>
                </a:solidFill>
                <a:latin typeface="Century Gothic"/>
                <a:ea typeface="Century Gothic"/>
                <a:cs typeface="Century Gothic"/>
                <a:sym typeface="Century Gothic"/>
              </a:defRPr>
            </a:lvl3pPr>
            <a:lvl4pPr marL="1828800" marR="0" lvl="3" indent="-304800" algn="l" rtl="0">
              <a:spcBef>
                <a:spcPts val="1000"/>
              </a:spcBef>
              <a:spcAft>
                <a:spcPts val="0"/>
              </a:spcAft>
              <a:buClr>
                <a:schemeClr val="accent1"/>
              </a:buClr>
              <a:buSzPts val="1200"/>
              <a:buFont typeface="Noto Sans Symbols"/>
              <a:buChar char="🠶"/>
              <a:defRPr sz="1200" b="0" i="0" u="none" strike="noStrike" cap="none">
                <a:solidFill>
                  <a:srgbClr val="404040"/>
                </a:solidFill>
                <a:latin typeface="Century Gothic"/>
                <a:ea typeface="Century Gothic"/>
                <a:cs typeface="Century Gothic"/>
                <a:sym typeface="Century Gothic"/>
              </a:defRPr>
            </a:lvl4pPr>
            <a:lvl5pPr marL="2286000" marR="0" lvl="4" indent="-304800" algn="l" rtl="0">
              <a:spcBef>
                <a:spcPts val="1000"/>
              </a:spcBef>
              <a:spcAft>
                <a:spcPts val="0"/>
              </a:spcAft>
              <a:buClr>
                <a:schemeClr val="accent1"/>
              </a:buClr>
              <a:buSzPts val="1200"/>
              <a:buFont typeface="Noto Sans Symbols"/>
              <a:buChar char="🠶"/>
              <a:defRPr sz="1200" b="0" i="0" u="none" strike="noStrike" cap="none">
                <a:solidFill>
                  <a:srgbClr val="404040"/>
                </a:solidFill>
                <a:latin typeface="Century Gothic"/>
                <a:ea typeface="Century Gothic"/>
                <a:cs typeface="Century Gothic"/>
                <a:sym typeface="Century Gothic"/>
              </a:defRPr>
            </a:lvl5pPr>
            <a:lvl6pPr marL="2743200" marR="0" lvl="5"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6pPr>
            <a:lvl7pPr marL="3200400" marR="0" lvl="6"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7pPr>
            <a:lvl8pPr marL="3657600" marR="0" lvl="7"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8pPr>
            <a:lvl9pPr marL="4114800" marR="0" lvl="8"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9pPr>
          </a:lstStyle>
          <a:p>
            <a:endParaRPr/>
          </a:p>
        </p:txBody>
      </p:sp>
      <p:sp>
        <p:nvSpPr>
          <p:cNvPr id="76" name="Google Shape;76;p3"/>
          <p:cNvSpPr txBox="1">
            <a:spLocks noGrp="1"/>
          </p:cNvSpPr>
          <p:nvPr>
            <p:ph type="dt" idx="10"/>
          </p:nvPr>
        </p:nvSpPr>
        <p:spPr>
          <a:xfrm>
            <a:off x="1943100" y="6103937"/>
            <a:ext cx="952500" cy="369887"/>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SzPts val="1400"/>
              <a:buNone/>
              <a:defRPr sz="900" b="0" i="0" u="none">
                <a:solidFill>
                  <a:srgbClr val="898989"/>
                </a:solidFill>
                <a:latin typeface="Century Gothic"/>
                <a:ea typeface="Century Gothic"/>
                <a:cs typeface="Century Gothic"/>
                <a:sym typeface="Century Gothic"/>
              </a:defRPr>
            </a:lvl1pPr>
            <a:lvl2pPr marR="0" lvl="1"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77" name="Google Shape;77;p3"/>
          <p:cNvSpPr txBox="1">
            <a:spLocks noGrp="1"/>
          </p:cNvSpPr>
          <p:nvPr>
            <p:ph type="ftr" idx="11"/>
          </p:nvPr>
        </p:nvSpPr>
        <p:spPr>
          <a:xfrm>
            <a:off x="2895600" y="6103937"/>
            <a:ext cx="4876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900" b="0" i="0" u="none">
                <a:solidFill>
                  <a:srgbClr val="898989"/>
                </a:solidFill>
                <a:latin typeface="Century Gothic"/>
                <a:ea typeface="Century Gothic"/>
                <a:cs typeface="Century Gothic"/>
                <a:sym typeface="Century Gothic"/>
              </a:defRPr>
            </a:lvl1pPr>
            <a:lvl2pPr marR="0" lvl="1"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lnSpc>
                <a:spcPct val="100000"/>
              </a:lnSpc>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78" name="Google Shape;78;p3"/>
          <p:cNvSpPr txBox="1">
            <a:spLocks noGrp="1"/>
          </p:cNvSpPr>
          <p:nvPr>
            <p:ph type="sldNum" idx="12"/>
          </p:nvPr>
        </p:nvSpPr>
        <p:spPr>
          <a:xfrm>
            <a:off x="7948612" y="6140450"/>
            <a:ext cx="776287" cy="365125"/>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1pPr>
            <a:lvl2pPr marL="0" marR="0" lvl="1" indent="0" algn="ctr" rtl="0">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2pPr>
            <a:lvl3pPr marL="0" marR="0" lvl="2" indent="0" algn="ctr" rtl="0">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3pPr>
            <a:lvl4pPr marL="0" marR="0" lvl="3" indent="0" algn="ctr" rtl="0">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4pPr>
            <a:lvl5pPr marL="0" marR="0" lvl="4" indent="0" algn="ctr" rtl="0">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5pPr>
            <a:lvl6pPr marL="0" marR="0" lvl="5" indent="0" algn="ctr" rtl="0">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6pPr>
            <a:lvl7pPr marL="0" marR="0" lvl="6" indent="0" algn="ctr" rtl="0">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7pPr>
            <a:lvl8pPr marL="0" marR="0" lvl="7" indent="0" algn="ctr" rtl="0">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8pPr>
            <a:lvl9pPr marL="0" marR="0" lvl="8" indent="0" algn="ctr" rtl="0">
              <a:lnSpc>
                <a:spcPct val="100000"/>
              </a:lnSpc>
              <a:spcBef>
                <a:spcPts val="0"/>
              </a:spcBef>
              <a:spcAft>
                <a:spcPts val="0"/>
              </a:spcAft>
              <a:buClr>
                <a:srgbClr val="898989"/>
              </a:buClr>
              <a:buSzPts val="900"/>
              <a:buFont typeface="Century Gothic"/>
              <a:buNone/>
              <a:defRPr sz="900" b="0" i="0" u="none">
                <a:solidFill>
                  <a:srgbClr val="898989"/>
                </a:solidFill>
                <a:latin typeface="Century Gothic"/>
                <a:ea typeface="Century Gothic"/>
                <a:cs typeface="Century Gothic"/>
                <a:sym typeface="Century Gothic"/>
              </a:defRPr>
            </a:lvl9pPr>
          </a:lstStyle>
          <a:p>
            <a:pPr marL="0" lvl="0" indent="0" algn="ctr" rtl="0">
              <a:spcBef>
                <a:spcPts val="0"/>
              </a:spcBef>
              <a:spcAft>
                <a:spcPts val="0"/>
              </a:spcAft>
              <a:buNone/>
            </a:pPr>
            <a:r>
              <a:rPr lang="en-US"/>
              <a:t>(#)  of 12</a:t>
            </a:r>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34"/>
          <p:cNvSpPr txBox="1"/>
          <p:nvPr/>
        </p:nvSpPr>
        <p:spPr>
          <a:xfrm>
            <a:off x="876300" y="42862"/>
            <a:ext cx="8153400" cy="858837"/>
          </a:xfrm>
          <a:prstGeom prst="rect">
            <a:avLst/>
          </a:prstGeom>
          <a:solidFill>
            <a:schemeClr val="lt1"/>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70C0"/>
              </a:buClr>
              <a:buSzPts val="2400"/>
              <a:buFont typeface="Cambria"/>
              <a:buNone/>
            </a:pPr>
            <a:r>
              <a:rPr lang="en-US" sz="2400" b="1" i="0" u="none">
                <a:solidFill>
                  <a:srgbClr val="0070C0"/>
                </a:solidFill>
                <a:latin typeface="Cambria"/>
                <a:ea typeface="Cambria"/>
                <a:cs typeface="Cambria"/>
                <a:sym typeface="Cambria"/>
              </a:rPr>
              <a:t>DAYANANDA SAGAR UNIVERSITY</a:t>
            </a:r>
            <a:endParaRPr/>
          </a:p>
          <a:p>
            <a:pPr marL="0" marR="0" lvl="0" indent="0" algn="ctr" rtl="0">
              <a:lnSpc>
                <a:spcPct val="100000"/>
              </a:lnSpc>
              <a:spcBef>
                <a:spcPts val="400"/>
              </a:spcBef>
              <a:spcAft>
                <a:spcPts val="0"/>
              </a:spcAft>
              <a:buClr>
                <a:srgbClr val="0E5672"/>
              </a:buClr>
              <a:buSzPts val="2000"/>
              <a:buFont typeface="Cambria"/>
              <a:buNone/>
            </a:pPr>
            <a:r>
              <a:rPr lang="en-US" sz="2000" b="1" i="0" u="none">
                <a:solidFill>
                  <a:srgbClr val="0E5672"/>
                </a:solidFill>
                <a:latin typeface="Cambria"/>
                <a:ea typeface="Cambria"/>
                <a:cs typeface="Cambria"/>
                <a:sym typeface="Cambria"/>
              </a:rPr>
              <a:t>SCHOOL OF ENGINEERING</a:t>
            </a:r>
            <a:endParaRPr/>
          </a:p>
        </p:txBody>
      </p:sp>
      <p:sp>
        <p:nvSpPr>
          <p:cNvPr id="690" name="Google Shape;690;p34"/>
          <p:cNvSpPr txBox="1">
            <a:spLocks noGrp="1"/>
          </p:cNvSpPr>
          <p:nvPr>
            <p:ph type="subTitle" idx="1"/>
          </p:nvPr>
        </p:nvSpPr>
        <p:spPr>
          <a:xfrm>
            <a:off x="876299" y="2779712"/>
            <a:ext cx="7850011" cy="1108075"/>
          </a:xfrm>
          <a:prstGeom prst="rect">
            <a:avLst/>
          </a:prstGeom>
          <a:noFill/>
          <a:ln>
            <a:noFill/>
          </a:ln>
        </p:spPr>
        <p:txBody>
          <a:bodyPr spcFirstLastPara="1" wrap="square" lIns="91425" tIns="45700" rIns="91425" bIns="45700" anchor="t" anchorCtr="0">
            <a:noAutofit/>
          </a:bodyPr>
          <a:lstStyle/>
          <a:p>
            <a:pPr marL="0" lvl="0" indent="0" algn="ctr">
              <a:spcBef>
                <a:spcPts val="0"/>
              </a:spcBef>
              <a:buSzPts val="2800"/>
            </a:pPr>
            <a:r>
              <a:rPr lang="en-US" sz="2800" b="1" dirty="0">
                <a:solidFill>
                  <a:srgbClr val="420408"/>
                </a:solidFill>
                <a:latin typeface="Calibri"/>
                <a:ea typeface="Calibri"/>
                <a:cs typeface="Calibri"/>
                <a:sym typeface="Calibri"/>
              </a:rPr>
              <a:t>TOPOLOGY-AWARE DEEP LEARNING FOR SMALL INTRACRANIAL ANEURYSM DETECTION</a:t>
            </a:r>
            <a:endParaRPr dirty="0"/>
          </a:p>
        </p:txBody>
      </p:sp>
      <p:sp>
        <p:nvSpPr>
          <p:cNvPr id="691" name="Google Shape;691;p34"/>
          <p:cNvSpPr txBox="1"/>
          <p:nvPr/>
        </p:nvSpPr>
        <p:spPr>
          <a:xfrm>
            <a:off x="2336801" y="5105400"/>
            <a:ext cx="4560710" cy="17542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800" b="1" i="0" u="none" dirty="0">
                <a:solidFill>
                  <a:schemeClr val="dk1"/>
                </a:solidFill>
                <a:latin typeface="Arial"/>
                <a:ea typeface="Arial"/>
                <a:cs typeface="Arial"/>
                <a:sym typeface="Arial"/>
              </a:rPr>
              <a:t>Presented By:</a:t>
            </a:r>
            <a:endParaRPr dirty="0"/>
          </a:p>
          <a:p>
            <a:pPr marL="0" marR="0" lvl="0" indent="0" algn="ctr" rtl="0">
              <a:lnSpc>
                <a:spcPct val="100000"/>
              </a:lnSpc>
              <a:spcBef>
                <a:spcPts val="0"/>
              </a:spcBef>
              <a:spcAft>
                <a:spcPts val="0"/>
              </a:spcAft>
              <a:buClr>
                <a:schemeClr val="dk1"/>
              </a:buClr>
              <a:buSzPts val="1800"/>
              <a:buFont typeface="Arial"/>
              <a:buNone/>
            </a:pPr>
            <a:r>
              <a:rPr lang="en-US" sz="1800" b="1" dirty="0" err="1">
                <a:solidFill>
                  <a:schemeClr val="dk1"/>
                </a:solidFill>
              </a:rPr>
              <a:t>Manya</a:t>
            </a:r>
            <a:r>
              <a:rPr lang="en-US" sz="1800" b="1" dirty="0">
                <a:solidFill>
                  <a:schemeClr val="dk1"/>
                </a:solidFill>
              </a:rPr>
              <a:t> B A(ENG23CS0360)</a:t>
            </a:r>
            <a:endParaRPr dirty="0"/>
          </a:p>
          <a:p>
            <a:pPr marL="0" marR="0" lvl="0" indent="0" algn="ctr" rtl="0">
              <a:lnSpc>
                <a:spcPct val="100000"/>
              </a:lnSpc>
              <a:spcBef>
                <a:spcPts val="0"/>
              </a:spcBef>
              <a:spcAft>
                <a:spcPts val="0"/>
              </a:spcAft>
              <a:buClr>
                <a:schemeClr val="dk1"/>
              </a:buClr>
              <a:buSzPts val="1800"/>
              <a:buFont typeface="Arial"/>
              <a:buNone/>
            </a:pPr>
            <a:r>
              <a:rPr lang="en-US" sz="1800" b="1" dirty="0">
                <a:solidFill>
                  <a:schemeClr val="dk1"/>
                </a:solidFill>
              </a:rPr>
              <a:t>Mohammed </a:t>
            </a:r>
            <a:r>
              <a:rPr lang="en-US" sz="1800" b="1" dirty="0" err="1">
                <a:solidFill>
                  <a:schemeClr val="dk1"/>
                </a:solidFill>
              </a:rPr>
              <a:t>Aseel</a:t>
            </a:r>
            <a:r>
              <a:rPr lang="en-US" sz="1800" b="1" dirty="0">
                <a:solidFill>
                  <a:schemeClr val="dk1"/>
                </a:solidFill>
              </a:rPr>
              <a:t> </a:t>
            </a:r>
            <a:r>
              <a:rPr lang="en-US" sz="1800" b="1" dirty="0" err="1">
                <a:solidFill>
                  <a:schemeClr val="dk1"/>
                </a:solidFill>
              </a:rPr>
              <a:t>Vanti</a:t>
            </a:r>
            <a:r>
              <a:rPr lang="en-US" sz="1800" b="1" i="0" u="none" dirty="0">
                <a:solidFill>
                  <a:schemeClr val="dk1"/>
                </a:solidFill>
                <a:latin typeface="Arial"/>
                <a:ea typeface="Arial"/>
                <a:cs typeface="Arial"/>
                <a:sym typeface="Arial"/>
              </a:rPr>
              <a:t>(ENG23CS0364)</a:t>
            </a:r>
            <a:endParaRPr dirty="0"/>
          </a:p>
          <a:p>
            <a:pPr marL="0" marR="0" lvl="0" indent="0" algn="ctr" rtl="0">
              <a:lnSpc>
                <a:spcPct val="100000"/>
              </a:lnSpc>
              <a:spcBef>
                <a:spcPts val="0"/>
              </a:spcBef>
              <a:spcAft>
                <a:spcPts val="0"/>
              </a:spcAft>
              <a:buClr>
                <a:schemeClr val="dk1"/>
              </a:buClr>
              <a:buSzPts val="1800"/>
              <a:buFont typeface="Arial"/>
              <a:buNone/>
            </a:pPr>
            <a:r>
              <a:rPr lang="en-US" sz="1800" b="1" dirty="0" err="1">
                <a:solidFill>
                  <a:schemeClr val="dk1"/>
                </a:solidFill>
              </a:rPr>
              <a:t>Nisarga</a:t>
            </a:r>
            <a:r>
              <a:rPr lang="en-US" sz="1800" b="1" dirty="0">
                <a:solidFill>
                  <a:schemeClr val="dk1"/>
                </a:solidFill>
              </a:rPr>
              <a:t> Jessy P</a:t>
            </a:r>
            <a:r>
              <a:rPr lang="en-US" sz="1800" b="1" i="0" u="none" dirty="0">
                <a:solidFill>
                  <a:schemeClr val="dk1"/>
                </a:solidFill>
                <a:latin typeface="Arial"/>
                <a:ea typeface="Arial"/>
                <a:cs typeface="Arial"/>
                <a:sym typeface="Arial"/>
              </a:rPr>
              <a:t>(ENG23CS0385)</a:t>
            </a:r>
            <a:endParaRPr dirty="0"/>
          </a:p>
          <a:p>
            <a:pPr marL="0" marR="0" lvl="0" indent="0" algn="ctr" rtl="0">
              <a:lnSpc>
                <a:spcPct val="100000"/>
              </a:lnSpc>
              <a:spcBef>
                <a:spcPts val="0"/>
              </a:spcBef>
              <a:spcAft>
                <a:spcPts val="0"/>
              </a:spcAft>
              <a:buClr>
                <a:schemeClr val="dk1"/>
              </a:buClr>
              <a:buSzPts val="1800"/>
              <a:buFont typeface="Arial"/>
              <a:buNone/>
            </a:pPr>
            <a:r>
              <a:rPr lang="en-US" sz="1800" b="1" dirty="0" err="1">
                <a:solidFill>
                  <a:schemeClr val="dk1"/>
                </a:solidFill>
              </a:rPr>
              <a:t>Pavan</a:t>
            </a:r>
            <a:r>
              <a:rPr lang="en-US" sz="1800" b="1" dirty="0">
                <a:solidFill>
                  <a:schemeClr val="dk1"/>
                </a:solidFill>
              </a:rPr>
              <a:t> P Yadav</a:t>
            </a:r>
            <a:r>
              <a:rPr lang="en-US" sz="1800" b="1" i="0" u="none" dirty="0">
                <a:solidFill>
                  <a:schemeClr val="dk1"/>
                </a:solidFill>
                <a:latin typeface="Arial"/>
                <a:ea typeface="Arial"/>
                <a:cs typeface="Arial"/>
                <a:sym typeface="Arial"/>
              </a:rPr>
              <a:t>(ENG23CS0396)</a:t>
            </a:r>
            <a:endParaRPr dirty="0"/>
          </a:p>
          <a:p>
            <a:pPr marL="0" marR="0" lvl="0" indent="0" algn="l" rtl="0">
              <a:lnSpc>
                <a:spcPct val="100000"/>
              </a:lnSpc>
              <a:spcBef>
                <a:spcPts val="0"/>
              </a:spcBef>
              <a:spcAft>
                <a:spcPts val="0"/>
              </a:spcAft>
              <a:buNone/>
            </a:pPr>
            <a:endParaRPr sz="1800" b="1" i="0" u="none" dirty="0">
              <a:solidFill>
                <a:schemeClr val="dk1"/>
              </a:solidFill>
              <a:latin typeface="Arial"/>
              <a:ea typeface="Arial"/>
              <a:cs typeface="Arial"/>
              <a:sym typeface="Arial"/>
            </a:endParaRPr>
          </a:p>
        </p:txBody>
      </p:sp>
      <p:sp>
        <p:nvSpPr>
          <p:cNvPr id="692" name="Google Shape;692;p34"/>
          <p:cNvSpPr txBox="1"/>
          <p:nvPr/>
        </p:nvSpPr>
        <p:spPr>
          <a:xfrm>
            <a:off x="1619250" y="2084387"/>
            <a:ext cx="5905500" cy="83095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70C0"/>
              </a:buClr>
              <a:buSzPts val="2400"/>
              <a:buFont typeface="Calibri"/>
              <a:buNone/>
            </a:pPr>
            <a:r>
              <a:rPr lang="en-US" sz="2400" b="1" i="0" u="none" dirty="0">
                <a:solidFill>
                  <a:srgbClr val="0070C0"/>
                </a:solidFill>
                <a:latin typeface="Calibri"/>
                <a:ea typeface="Calibri"/>
                <a:cs typeface="Calibri"/>
                <a:sym typeface="Calibri"/>
              </a:rPr>
              <a:t>Major Project Phase-I</a:t>
            </a:r>
          </a:p>
          <a:p>
            <a:pPr marL="0" marR="0" lvl="0" indent="0" algn="ctr" rtl="0">
              <a:lnSpc>
                <a:spcPct val="100000"/>
              </a:lnSpc>
              <a:spcBef>
                <a:spcPts val="0"/>
              </a:spcBef>
              <a:spcAft>
                <a:spcPts val="0"/>
              </a:spcAft>
              <a:buClr>
                <a:srgbClr val="0070C0"/>
              </a:buClr>
              <a:buSzPts val="2400"/>
              <a:buFont typeface="Calibri"/>
              <a:buNone/>
            </a:pPr>
            <a:r>
              <a:rPr lang="en-US" sz="2400" b="1" dirty="0">
                <a:solidFill>
                  <a:srgbClr val="0070C0"/>
                </a:solidFill>
                <a:latin typeface="Calibri"/>
                <a:cs typeface="Calibri"/>
                <a:sym typeface="Calibri"/>
              </a:rPr>
              <a:t>Review 0</a:t>
            </a:r>
            <a:endParaRPr dirty="0"/>
          </a:p>
        </p:txBody>
      </p:sp>
      <p:pic>
        <p:nvPicPr>
          <p:cNvPr id="693" name="Google Shape;693;p34"/>
          <p:cNvPicPr preferRelativeResize="0"/>
          <p:nvPr/>
        </p:nvPicPr>
        <p:blipFill rotWithShape="1">
          <a:blip r:embed="rId3">
            <a:alphaModFix/>
          </a:blip>
          <a:srcRect/>
          <a:stretch/>
        </p:blipFill>
        <p:spPr>
          <a:xfrm>
            <a:off x="0" y="17462"/>
            <a:ext cx="1284287" cy="1112837"/>
          </a:xfrm>
          <a:prstGeom prst="rect">
            <a:avLst/>
          </a:prstGeom>
          <a:noFill/>
          <a:ln>
            <a:noFill/>
          </a:ln>
        </p:spPr>
      </p:pic>
      <p:sp>
        <p:nvSpPr>
          <p:cNvPr id="694" name="Google Shape;694;p34"/>
          <p:cNvSpPr txBox="1"/>
          <p:nvPr/>
        </p:nvSpPr>
        <p:spPr>
          <a:xfrm>
            <a:off x="381000" y="1187450"/>
            <a:ext cx="8763000" cy="73183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D0D47"/>
              </a:buClr>
              <a:buSzPts val="2800"/>
              <a:buFont typeface="Calibri"/>
              <a:buNone/>
            </a:pPr>
            <a:r>
              <a:rPr lang="en-US" sz="2800" b="1" i="0" u="none" dirty="0">
                <a:solidFill>
                  <a:srgbClr val="0D0D47"/>
                </a:solidFill>
                <a:latin typeface="Calibri"/>
                <a:ea typeface="Calibri"/>
                <a:cs typeface="Calibri"/>
                <a:sym typeface="Calibri"/>
              </a:rPr>
              <a:t>Department of Computer Science and </a:t>
            </a:r>
            <a:r>
              <a:rPr lang="en-US" sz="2800" b="1" dirty="0">
                <a:solidFill>
                  <a:srgbClr val="0D0D47"/>
                </a:solidFill>
                <a:latin typeface="Calibri"/>
                <a:ea typeface="Calibri"/>
                <a:cs typeface="Calibri"/>
                <a:sym typeface="Calibri"/>
              </a:rPr>
              <a:t>Engineering</a:t>
            </a:r>
          </a:p>
          <a:p>
            <a:pPr marL="0" marR="0" lvl="0" indent="0" algn="ctr" rtl="0">
              <a:lnSpc>
                <a:spcPct val="100000"/>
              </a:lnSpc>
              <a:spcBef>
                <a:spcPts val="0"/>
              </a:spcBef>
              <a:spcAft>
                <a:spcPts val="0"/>
              </a:spcAft>
              <a:buClr>
                <a:srgbClr val="0D0D47"/>
              </a:buClr>
              <a:buSzPts val="2800"/>
              <a:buFont typeface="Calibri"/>
              <a:buNone/>
            </a:pPr>
            <a:r>
              <a:rPr lang="en-US" sz="2800" b="1" dirty="0">
                <a:solidFill>
                  <a:srgbClr val="0D0D47"/>
                </a:solidFill>
                <a:latin typeface="Calibri"/>
                <a:ea typeface="Calibri"/>
                <a:cs typeface="Calibri"/>
                <a:sym typeface="Calibri"/>
              </a:rPr>
              <a:t>2026-2027</a:t>
            </a:r>
          </a:p>
          <a:p>
            <a:pPr marL="0" marR="0" lvl="0" indent="0" algn="ctr" rtl="0">
              <a:lnSpc>
                <a:spcPct val="100000"/>
              </a:lnSpc>
              <a:spcBef>
                <a:spcPts val="0"/>
              </a:spcBef>
              <a:spcAft>
                <a:spcPts val="0"/>
              </a:spcAft>
              <a:buClr>
                <a:srgbClr val="0D0D47"/>
              </a:buClr>
              <a:buSzPts val="2800"/>
              <a:buFont typeface="Calibri"/>
              <a:buNone/>
            </a:pPr>
            <a:endParaRPr dirty="0"/>
          </a:p>
        </p:txBody>
      </p:sp>
      <p:sp>
        <p:nvSpPr>
          <p:cNvPr id="695" name="Google Shape;695;p34"/>
          <p:cNvSpPr txBox="1"/>
          <p:nvPr/>
        </p:nvSpPr>
        <p:spPr>
          <a:xfrm>
            <a:off x="1809750" y="3887787"/>
            <a:ext cx="5905500" cy="101562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3217"/>
              </a:buClr>
              <a:buSzPts val="2000"/>
              <a:buFont typeface="Calibri"/>
              <a:buNone/>
            </a:pPr>
            <a:r>
              <a:rPr lang="en-US" sz="2000" b="1" i="0" u="none" dirty="0">
                <a:solidFill>
                  <a:srgbClr val="003217"/>
                </a:solidFill>
                <a:latin typeface="Calibri"/>
                <a:ea typeface="Calibri"/>
                <a:cs typeface="Calibri"/>
                <a:sym typeface="Calibri"/>
              </a:rPr>
              <a:t>Under the Supervision</a:t>
            </a:r>
            <a:endParaRPr dirty="0"/>
          </a:p>
          <a:p>
            <a:pPr marL="0" marR="0" lvl="0" indent="0" algn="ctr" rtl="0">
              <a:lnSpc>
                <a:spcPct val="100000"/>
              </a:lnSpc>
              <a:spcBef>
                <a:spcPts val="0"/>
              </a:spcBef>
              <a:spcAft>
                <a:spcPts val="0"/>
              </a:spcAft>
              <a:buClr>
                <a:srgbClr val="003217"/>
              </a:buClr>
              <a:buSzPts val="2000"/>
              <a:buFont typeface="Calibri"/>
              <a:buNone/>
            </a:pPr>
            <a:r>
              <a:rPr lang="en-US" sz="2000" b="1" i="0" u="none" dirty="0">
                <a:solidFill>
                  <a:srgbClr val="003217"/>
                </a:solidFill>
                <a:latin typeface="Calibri"/>
                <a:ea typeface="Calibri"/>
                <a:cs typeface="Calibri"/>
                <a:sym typeface="Calibri"/>
              </a:rPr>
              <a:t>Prof. </a:t>
            </a:r>
            <a:r>
              <a:rPr lang="en-US" sz="2000" b="1" i="0" u="none" dirty="0" err="1">
                <a:solidFill>
                  <a:srgbClr val="003217"/>
                </a:solidFill>
                <a:latin typeface="Calibri"/>
                <a:ea typeface="Calibri"/>
                <a:cs typeface="Calibri"/>
                <a:sym typeface="Calibri"/>
              </a:rPr>
              <a:t>Sharath</a:t>
            </a:r>
            <a:r>
              <a:rPr lang="en-US" sz="2000" b="1" i="0" u="none" dirty="0">
                <a:solidFill>
                  <a:srgbClr val="003217"/>
                </a:solidFill>
                <a:latin typeface="Calibri"/>
                <a:ea typeface="Calibri"/>
                <a:cs typeface="Calibri"/>
                <a:sym typeface="Calibri"/>
              </a:rPr>
              <a:t> H A</a:t>
            </a:r>
          </a:p>
          <a:p>
            <a:pPr marL="0" marR="0" lvl="0" indent="0" algn="ctr" rtl="0">
              <a:lnSpc>
                <a:spcPct val="100000"/>
              </a:lnSpc>
              <a:spcBef>
                <a:spcPts val="0"/>
              </a:spcBef>
              <a:spcAft>
                <a:spcPts val="0"/>
              </a:spcAft>
              <a:buClr>
                <a:srgbClr val="003217"/>
              </a:buClr>
              <a:buSzPts val="2000"/>
              <a:buFont typeface="Calibri"/>
              <a:buNone/>
            </a:pPr>
            <a:r>
              <a:rPr lang="en-US" sz="2000" b="1" dirty="0">
                <a:solidFill>
                  <a:srgbClr val="003217"/>
                </a:solidFill>
                <a:latin typeface="Calibri"/>
                <a:ea typeface="Calibri"/>
                <a:cs typeface="Calibri"/>
                <a:sym typeface="Calibri"/>
              </a:rPr>
              <a:t>Assistant Prof., Department of CSE</a:t>
            </a:r>
            <a:endParaRPr dirty="0"/>
          </a:p>
        </p:txBody>
      </p:sp>
      <p:sp>
        <p:nvSpPr>
          <p:cNvPr id="696" name="Google Shape;696;p34"/>
          <p:cNvSpPr txBox="1"/>
          <p:nvPr/>
        </p:nvSpPr>
        <p:spPr>
          <a:xfrm>
            <a:off x="423862" y="4529137"/>
            <a:ext cx="584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EFFFF"/>
              </a:buClr>
              <a:buSzPts val="2000"/>
              <a:buFont typeface="Century Gothic"/>
              <a:buNone/>
            </a:pPr>
            <a:fld id="{00000000-1234-1234-1234-123412341234}" type="slidenum">
              <a:rPr lang="en-US" sz="2000" b="0" i="0" u="none">
                <a:solidFill>
                  <a:srgbClr val="FEFFFF"/>
                </a:solidFill>
                <a:latin typeface="Century Gothic"/>
                <a:ea typeface="Century Gothic"/>
                <a:cs typeface="Century Gothic"/>
                <a:sym typeface="Century Gothic"/>
              </a:rPr>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p35"/>
          <p:cNvSpPr txBox="1">
            <a:spLocks noGrp="1"/>
          </p:cNvSpPr>
          <p:nvPr>
            <p:ph type="title"/>
          </p:nvPr>
        </p:nvSpPr>
        <p:spPr>
          <a:xfrm>
            <a:off x="1676400" y="573087"/>
            <a:ext cx="6589712" cy="7477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1581AA"/>
              </a:buClr>
              <a:buSzPts val="3600"/>
              <a:buFont typeface="Calibri"/>
              <a:buNone/>
            </a:pPr>
            <a:r>
              <a:rPr lang="en-US" b="1" dirty="0">
                <a:latin typeface="Calibri"/>
                <a:cs typeface="Calibri"/>
                <a:sym typeface="Calibri"/>
              </a:rPr>
              <a:t>Outline</a:t>
            </a:r>
            <a:endParaRPr dirty="0"/>
          </a:p>
        </p:txBody>
      </p:sp>
      <p:sp>
        <p:nvSpPr>
          <p:cNvPr id="702" name="Google Shape;702;p35"/>
          <p:cNvSpPr txBox="1">
            <a:spLocks noGrp="1"/>
          </p:cNvSpPr>
          <p:nvPr>
            <p:ph type="body" idx="1"/>
          </p:nvPr>
        </p:nvSpPr>
        <p:spPr>
          <a:xfrm>
            <a:off x="1399309" y="1662545"/>
            <a:ext cx="6868391" cy="393974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1000"/>
              </a:spcBef>
              <a:spcAft>
                <a:spcPts val="0"/>
              </a:spcAft>
              <a:buClr>
                <a:schemeClr val="accent1"/>
              </a:buClr>
              <a:buSzPts val="1800"/>
              <a:buFont typeface="Noto Sans Symbols"/>
              <a:buChar char="🠶"/>
            </a:pPr>
            <a:r>
              <a:rPr lang="en-US" sz="1800" b="0" i="0" u="none" strike="noStrike" cap="none" dirty="0">
                <a:solidFill>
                  <a:srgbClr val="404040"/>
                </a:solidFill>
                <a:latin typeface="Calibri"/>
                <a:ea typeface="Calibri"/>
                <a:cs typeface="Calibri"/>
                <a:sym typeface="Calibri"/>
              </a:rPr>
              <a:t>Problem Definition and Project Relevance</a:t>
            </a:r>
            <a:endParaRPr dirty="0"/>
          </a:p>
          <a:p>
            <a:pPr marL="342900" marR="0" lvl="0" indent="-342900" algn="l" rtl="0">
              <a:lnSpc>
                <a:spcPct val="100000"/>
              </a:lnSpc>
              <a:spcBef>
                <a:spcPts val="1000"/>
              </a:spcBef>
              <a:spcAft>
                <a:spcPts val="0"/>
              </a:spcAft>
              <a:buClr>
                <a:schemeClr val="accent1"/>
              </a:buClr>
              <a:buSzPts val="1800"/>
              <a:buFont typeface="Noto Sans Symbols"/>
              <a:buChar char="🠶"/>
            </a:pPr>
            <a:r>
              <a:rPr lang="en-US" dirty="0">
                <a:latin typeface="Calibri"/>
                <a:cs typeface="Calibri"/>
                <a:sym typeface="Calibri"/>
              </a:rPr>
              <a:t>Literature Review and Research Gap</a:t>
            </a:r>
            <a:endParaRPr dirty="0"/>
          </a:p>
          <a:p>
            <a:pPr marL="342900" marR="0" lvl="0" indent="-342900" algn="l" rtl="0">
              <a:lnSpc>
                <a:spcPct val="100000"/>
              </a:lnSpc>
              <a:spcBef>
                <a:spcPts val="1000"/>
              </a:spcBef>
              <a:spcAft>
                <a:spcPts val="0"/>
              </a:spcAft>
              <a:buClr>
                <a:schemeClr val="accent1"/>
              </a:buClr>
              <a:buSzPts val="1800"/>
              <a:buFont typeface="Noto Sans Symbols"/>
              <a:buChar char="🠶"/>
            </a:pPr>
            <a:r>
              <a:rPr lang="en-US" dirty="0">
                <a:latin typeface="Calibri"/>
                <a:cs typeface="Calibri"/>
                <a:sym typeface="Calibri"/>
              </a:rPr>
              <a:t>Proposed Methodology </a:t>
            </a:r>
            <a:endParaRPr dirty="0"/>
          </a:p>
          <a:p>
            <a:pPr marL="342900" marR="0" lvl="0" indent="-342900" algn="l" rtl="0">
              <a:lnSpc>
                <a:spcPct val="100000"/>
              </a:lnSpc>
              <a:spcBef>
                <a:spcPts val="1000"/>
              </a:spcBef>
              <a:spcAft>
                <a:spcPts val="0"/>
              </a:spcAft>
              <a:buClr>
                <a:schemeClr val="accent1"/>
              </a:buClr>
              <a:buSzPts val="1800"/>
              <a:buFont typeface="Noto Sans Symbols"/>
              <a:buChar char="🠶"/>
            </a:pPr>
            <a:r>
              <a:rPr lang="en-US" dirty="0">
                <a:latin typeface="Calibri"/>
                <a:cs typeface="Calibri"/>
                <a:sym typeface="Calibri"/>
              </a:rPr>
              <a:t>Innovations and Objectives and expected Outcomes </a:t>
            </a:r>
            <a:endParaRPr dirty="0"/>
          </a:p>
          <a:p>
            <a:pPr marL="342900" marR="0" lvl="0" indent="-342900" algn="l" rtl="0">
              <a:lnSpc>
                <a:spcPct val="100000"/>
              </a:lnSpc>
              <a:spcBef>
                <a:spcPts val="1000"/>
              </a:spcBef>
              <a:spcAft>
                <a:spcPts val="0"/>
              </a:spcAft>
              <a:buClr>
                <a:schemeClr val="accent1"/>
              </a:buClr>
              <a:buSzPts val="1800"/>
              <a:buFont typeface="Noto Sans Symbols"/>
              <a:buChar char="🠶"/>
            </a:pPr>
            <a:r>
              <a:rPr lang="en-US" dirty="0">
                <a:latin typeface="Calibri"/>
                <a:cs typeface="Calibri"/>
                <a:sym typeface="Calibri"/>
              </a:rPr>
              <a:t>Feasibility evaluation and Project Planning</a:t>
            </a:r>
            <a:endParaRPr dirty="0"/>
          </a:p>
          <a:p>
            <a:pPr marL="342900" marR="0" lvl="0" indent="-342900" algn="l" rtl="0">
              <a:lnSpc>
                <a:spcPct val="100000"/>
              </a:lnSpc>
              <a:spcBef>
                <a:spcPts val="1000"/>
              </a:spcBef>
              <a:spcAft>
                <a:spcPts val="0"/>
              </a:spcAft>
              <a:buClr>
                <a:schemeClr val="accent1"/>
              </a:buClr>
              <a:buSzPts val="1800"/>
              <a:buFont typeface="Noto Sans Symbols"/>
              <a:buChar char="🠶"/>
            </a:pPr>
            <a:r>
              <a:rPr lang="en-US" sz="1800" b="0" i="0" u="none" strike="noStrike" cap="none" dirty="0">
                <a:solidFill>
                  <a:srgbClr val="404040"/>
                </a:solidFill>
                <a:latin typeface="Calibri"/>
                <a:ea typeface="Calibri"/>
                <a:cs typeface="Calibri"/>
                <a:sym typeface="Calibri"/>
              </a:rPr>
              <a:t>References</a:t>
            </a:r>
            <a:endParaRPr dirty="0"/>
          </a:p>
          <a:p>
            <a:pPr marL="342900" marR="0" lvl="0" indent="-228600" algn="l" rtl="0">
              <a:lnSpc>
                <a:spcPct val="100000"/>
              </a:lnSpc>
              <a:spcBef>
                <a:spcPts val="1000"/>
              </a:spcBef>
              <a:spcAft>
                <a:spcPts val="0"/>
              </a:spcAft>
              <a:buClr>
                <a:schemeClr val="accent1"/>
              </a:buClr>
              <a:buSzPts val="1800"/>
              <a:buFont typeface="Noto Sans Symbols"/>
              <a:buNone/>
            </a:pPr>
            <a:endParaRPr sz="1800" b="0" i="0" u="none" strike="noStrike" cap="none" dirty="0">
              <a:solidFill>
                <a:srgbClr val="404040"/>
              </a:solidFill>
              <a:latin typeface="Calibri"/>
              <a:ea typeface="Calibri"/>
              <a:cs typeface="Calibri"/>
              <a:sym typeface="Calibri"/>
            </a:endParaRPr>
          </a:p>
          <a:p>
            <a:pPr marL="342900" marR="0" lvl="0" indent="-228600" algn="l" rtl="0">
              <a:spcBef>
                <a:spcPts val="1000"/>
              </a:spcBef>
              <a:spcAft>
                <a:spcPts val="0"/>
              </a:spcAft>
              <a:buClr>
                <a:schemeClr val="accent1"/>
              </a:buClr>
              <a:buSzPts val="1800"/>
              <a:buFont typeface="Noto Sans Symbols"/>
              <a:buNone/>
            </a:pPr>
            <a:endParaRPr sz="1800" b="0" i="0" u="none" dirty="0">
              <a:solidFill>
                <a:srgbClr val="404040"/>
              </a:solidFill>
              <a:latin typeface="Calibri"/>
              <a:ea typeface="Calibri"/>
              <a:cs typeface="Calibri"/>
              <a:sym typeface="Calibri"/>
            </a:endParaRPr>
          </a:p>
        </p:txBody>
      </p:sp>
      <p:sp>
        <p:nvSpPr>
          <p:cNvPr id="703" name="Google Shape;703;p35"/>
          <p:cNvSpPr txBox="1"/>
          <p:nvPr/>
        </p:nvSpPr>
        <p:spPr>
          <a:xfrm>
            <a:off x="950912" y="6165850"/>
            <a:ext cx="1066800" cy="36988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a:t>
            </a:r>
            <a:endParaRPr/>
          </a:p>
        </p:txBody>
      </p:sp>
      <p:sp>
        <p:nvSpPr>
          <p:cNvPr id="704" name="Google Shape;704;p35"/>
          <p:cNvSpPr txBox="1"/>
          <p:nvPr/>
        </p:nvSpPr>
        <p:spPr>
          <a:xfrm>
            <a:off x="2895600" y="6103937"/>
            <a:ext cx="4876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Dept of CSE., SOE-Dayananda Sagar University</a:t>
            </a:r>
            <a:endParaRPr/>
          </a:p>
        </p:txBody>
      </p:sp>
      <p:sp>
        <p:nvSpPr>
          <p:cNvPr id="705" name="Google Shape;705;p35"/>
          <p:cNvSpPr txBox="1"/>
          <p:nvPr/>
        </p:nvSpPr>
        <p:spPr>
          <a:xfrm>
            <a:off x="7948612" y="6140450"/>
            <a:ext cx="776287"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fld id="{00000000-1234-1234-1234-123412341234}" type="slidenum">
              <a:rPr lang="en-US" sz="900" b="0" i="0" u="none" dirty="0">
                <a:solidFill>
                  <a:srgbClr val="898989"/>
                </a:solidFill>
                <a:latin typeface="Century Gothic"/>
                <a:ea typeface="Century Gothic"/>
                <a:cs typeface="Century Gothic"/>
                <a:sym typeface="Century Gothic"/>
              </a:rPr>
              <a:t>2</a:t>
            </a:fld>
            <a:r>
              <a:rPr lang="en-US" sz="900" b="0" i="0" u="none">
                <a:solidFill>
                  <a:srgbClr val="898989"/>
                </a:solidFill>
                <a:latin typeface="Century Gothic"/>
                <a:ea typeface="Century Gothic"/>
                <a:cs typeface="Century Gothic"/>
                <a:sym typeface="Century Gothic"/>
              </a:rPr>
              <a:t> of </a:t>
            </a:r>
            <a:r>
              <a:rPr lang="en-US" sz="900">
                <a:solidFill>
                  <a:srgbClr val="898989"/>
                </a:solidFill>
                <a:latin typeface="Century Gothic"/>
                <a:ea typeface="Century Gothic"/>
                <a:cs typeface="Century Gothic"/>
                <a:sym typeface="Century Gothic"/>
              </a:rPr>
              <a:t>18</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36"/>
          <p:cNvSpPr txBox="1">
            <a:spLocks noGrp="1"/>
          </p:cNvSpPr>
          <p:nvPr>
            <p:ph type="title"/>
          </p:nvPr>
        </p:nvSpPr>
        <p:spPr>
          <a:xfrm>
            <a:off x="1676399" y="573087"/>
            <a:ext cx="7048499" cy="747712"/>
          </a:xfrm>
          <a:prstGeom prst="rect">
            <a:avLst/>
          </a:prstGeom>
          <a:noFill/>
          <a:ln>
            <a:noFill/>
          </a:ln>
        </p:spPr>
        <p:txBody>
          <a:bodyPr spcFirstLastPara="1" wrap="square" lIns="91425" tIns="45700" rIns="91425" bIns="45700" anchor="t" anchorCtr="0">
            <a:noAutofit/>
          </a:bodyPr>
          <a:lstStyle/>
          <a:p>
            <a:pPr lvl="0">
              <a:buClr>
                <a:srgbClr val="1581AA"/>
              </a:buClr>
              <a:buSzPts val="3600"/>
            </a:pPr>
            <a:r>
              <a:rPr lang="en-US" dirty="0"/>
              <a:t>Problem Definition and Project Relevance</a:t>
            </a:r>
            <a:endParaRPr dirty="0"/>
          </a:p>
        </p:txBody>
      </p:sp>
      <p:sp>
        <p:nvSpPr>
          <p:cNvPr id="711" name="Google Shape;711;p36"/>
          <p:cNvSpPr txBox="1">
            <a:spLocks noGrp="1"/>
          </p:cNvSpPr>
          <p:nvPr>
            <p:ph type="body" idx="1"/>
          </p:nvPr>
        </p:nvSpPr>
        <p:spPr>
          <a:xfrm>
            <a:off x="1140177" y="1752600"/>
            <a:ext cx="7463495" cy="37782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1"/>
              </a:buClr>
              <a:buSzPts val="1800"/>
              <a:buNone/>
            </a:pPr>
            <a:endParaRPr lang="en-US" dirty="0"/>
          </a:p>
          <a:p>
            <a:r>
              <a:rPr lang="en-US" b="1" dirty="0"/>
              <a:t>Problem:</a:t>
            </a:r>
            <a:br>
              <a:rPr lang="en-US" dirty="0"/>
            </a:br>
            <a:r>
              <a:rPr lang="en-US" dirty="0">
                <a:latin typeface="Calibri" panose="020F0502020204030204" pitchFamily="34" charset="0"/>
                <a:ea typeface="Calibri" panose="020F0502020204030204" pitchFamily="34" charset="0"/>
                <a:cs typeface="Calibri" panose="020F0502020204030204" pitchFamily="34" charset="0"/>
              </a:rPr>
              <a:t>Small intracranial aneurysms can be difficult to distinguish from normal vessels using image features alone.</a:t>
            </a:r>
          </a:p>
          <a:p>
            <a:r>
              <a:rPr lang="en-US" b="1" dirty="0"/>
              <a:t>Need:</a:t>
            </a:r>
            <a:br>
              <a:rPr lang="en-US" dirty="0"/>
            </a:br>
            <a:r>
              <a:rPr lang="en-US" dirty="0">
                <a:latin typeface="Calibri" panose="020F0502020204030204" pitchFamily="34" charset="0"/>
                <a:ea typeface="Calibri" panose="020F0502020204030204" pitchFamily="34" charset="0"/>
                <a:cs typeface="Calibri" panose="020F0502020204030204" pitchFamily="34" charset="0"/>
              </a:rPr>
              <a:t>Existing approaches may not explicitly model the connectivity and structural relationships of cerebral blood vessels.</a:t>
            </a:r>
          </a:p>
          <a:p>
            <a:r>
              <a:rPr lang="en-US" b="1" dirty="0"/>
              <a:t>Our Relevance:</a:t>
            </a:r>
            <a:br>
              <a:rPr lang="en-US" dirty="0"/>
            </a:br>
            <a:r>
              <a:rPr lang="en-US" dirty="0">
                <a:latin typeface="Calibri" panose="020F0502020204030204" pitchFamily="34" charset="0"/>
                <a:ea typeface="Calibri" panose="020F0502020204030204" pitchFamily="34" charset="0"/>
                <a:cs typeface="Calibri" panose="020F0502020204030204" pitchFamily="34" charset="0"/>
              </a:rPr>
              <a:t>We combine 3D image features with vessel topology using CNN + GAT to investigate improved detection of small aneurysms.</a:t>
            </a:r>
          </a:p>
          <a:p>
            <a:pPr marL="0" lvl="0" indent="0">
              <a:spcBef>
                <a:spcPts val="0"/>
              </a:spcBef>
              <a:buNone/>
            </a:pPr>
            <a:endParaRPr dirty="0"/>
          </a:p>
          <a:p>
            <a:pPr marL="342900" marR="0" lvl="0" indent="-228600" algn="l" rtl="0">
              <a:lnSpc>
                <a:spcPct val="100000"/>
              </a:lnSpc>
              <a:spcBef>
                <a:spcPts val="1000"/>
              </a:spcBef>
              <a:spcAft>
                <a:spcPts val="0"/>
              </a:spcAft>
              <a:buClr>
                <a:schemeClr val="accent1"/>
              </a:buClr>
              <a:buSzPts val="1800"/>
              <a:buFont typeface="Noto Sans Symbols"/>
              <a:buNone/>
            </a:pPr>
            <a:endParaRPr sz="1800" b="0" i="0" u="none" dirty="0">
              <a:solidFill>
                <a:srgbClr val="404040"/>
              </a:solidFill>
              <a:latin typeface="Calibri"/>
              <a:ea typeface="Calibri"/>
              <a:cs typeface="Calibri"/>
              <a:sym typeface="Calibri"/>
            </a:endParaRPr>
          </a:p>
          <a:p>
            <a:pPr marL="342900" marR="0" lvl="0" indent="-228600" algn="l" rtl="0">
              <a:spcBef>
                <a:spcPts val="1000"/>
              </a:spcBef>
              <a:spcAft>
                <a:spcPts val="0"/>
              </a:spcAft>
              <a:buClr>
                <a:schemeClr val="accent1"/>
              </a:buClr>
              <a:buSzPts val="1800"/>
              <a:buFont typeface="Noto Sans Symbols"/>
              <a:buNone/>
            </a:pPr>
            <a:endParaRPr sz="1800" b="0" i="0" u="none" dirty="0">
              <a:solidFill>
                <a:srgbClr val="404040"/>
              </a:solidFill>
              <a:latin typeface="Calibri"/>
              <a:ea typeface="Calibri"/>
              <a:cs typeface="Calibri"/>
              <a:sym typeface="Calibri"/>
            </a:endParaRPr>
          </a:p>
        </p:txBody>
      </p:sp>
      <p:sp>
        <p:nvSpPr>
          <p:cNvPr id="712" name="Google Shape;712;p36"/>
          <p:cNvSpPr txBox="1"/>
          <p:nvPr/>
        </p:nvSpPr>
        <p:spPr>
          <a:xfrm>
            <a:off x="7948612" y="6140450"/>
            <a:ext cx="776287"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fld id="{00000000-1234-1234-1234-123412341234}" type="slidenum">
              <a:rPr lang="en-US" sz="900" b="0" i="0" u="none" dirty="0">
                <a:solidFill>
                  <a:srgbClr val="898989"/>
                </a:solidFill>
                <a:latin typeface="Century Gothic"/>
                <a:ea typeface="Century Gothic"/>
                <a:cs typeface="Century Gothic"/>
                <a:sym typeface="Century Gothic"/>
              </a:rPr>
              <a:t>3</a:t>
            </a:fld>
            <a:r>
              <a:rPr lang="en-US" sz="900" b="0" i="0" u="none">
                <a:solidFill>
                  <a:srgbClr val="898989"/>
                </a:solidFill>
                <a:latin typeface="Century Gothic"/>
                <a:ea typeface="Century Gothic"/>
                <a:cs typeface="Century Gothic"/>
                <a:sym typeface="Century Gothic"/>
              </a:rPr>
              <a:t> of </a:t>
            </a:r>
            <a:r>
              <a:rPr lang="en-US" sz="900">
                <a:solidFill>
                  <a:srgbClr val="898989"/>
                </a:solidFill>
                <a:latin typeface="Century Gothic"/>
                <a:ea typeface="Century Gothic"/>
                <a:cs typeface="Century Gothic"/>
                <a:sym typeface="Century Gothic"/>
              </a:rPr>
              <a:t>18</a:t>
            </a:r>
            <a:endParaRPr/>
          </a:p>
        </p:txBody>
      </p:sp>
      <p:sp>
        <p:nvSpPr>
          <p:cNvPr id="713" name="Google Shape;713;p36"/>
          <p:cNvSpPr txBox="1"/>
          <p:nvPr/>
        </p:nvSpPr>
        <p:spPr>
          <a:xfrm>
            <a:off x="1943100" y="6156325"/>
            <a:ext cx="876300" cy="36988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a:t>
            </a:r>
            <a:endParaRPr/>
          </a:p>
        </p:txBody>
      </p:sp>
      <p:sp>
        <p:nvSpPr>
          <p:cNvPr id="714" name="Google Shape;714;p36"/>
          <p:cNvSpPr txBox="1"/>
          <p:nvPr/>
        </p:nvSpPr>
        <p:spPr>
          <a:xfrm>
            <a:off x="2819400" y="6156325"/>
            <a:ext cx="5129212"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Dept of CSE., SOE-Dayananda Sagar University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19" name="Google Shape;719;p37"/>
          <p:cNvSpPr txBox="1">
            <a:spLocks noGrp="1"/>
          </p:cNvSpPr>
          <p:nvPr>
            <p:ph type="title"/>
          </p:nvPr>
        </p:nvSpPr>
        <p:spPr>
          <a:xfrm>
            <a:off x="1676400" y="573087"/>
            <a:ext cx="6589712" cy="747712"/>
          </a:xfrm>
          <a:prstGeom prst="rect">
            <a:avLst/>
          </a:prstGeom>
          <a:noFill/>
          <a:ln>
            <a:noFill/>
          </a:ln>
        </p:spPr>
        <p:txBody>
          <a:bodyPr spcFirstLastPara="1" wrap="square" lIns="91425" tIns="45700" rIns="91425" bIns="45700" anchor="t" anchorCtr="0">
            <a:normAutofit fontScale="90000"/>
          </a:bodyPr>
          <a:lstStyle/>
          <a:p>
            <a:pPr lvl="0">
              <a:buClr>
                <a:srgbClr val="1581AA"/>
              </a:buClr>
              <a:buSzPts val="3200"/>
            </a:pPr>
            <a:r>
              <a:rPr lang="en-US" sz="3200" b="1" dirty="0">
                <a:latin typeface="Calibri"/>
                <a:ea typeface="Calibri"/>
                <a:cs typeface="Calibri"/>
                <a:sym typeface="Calibri"/>
              </a:rPr>
              <a:t>Literature Review and Research Gap</a:t>
            </a:r>
            <a:br>
              <a:rPr lang="en-US" sz="3200" b="1" i="0" u="none" dirty="0">
                <a:solidFill>
                  <a:srgbClr val="1581AA"/>
                </a:solidFill>
                <a:latin typeface="Calibri"/>
                <a:ea typeface="Calibri"/>
                <a:cs typeface="Calibri"/>
                <a:sym typeface="Calibri"/>
              </a:rPr>
            </a:br>
            <a:endParaRPr dirty="0"/>
          </a:p>
        </p:txBody>
      </p:sp>
      <p:pic>
        <p:nvPicPr>
          <p:cNvPr id="2" name="Picture 1"/>
          <p:cNvPicPr>
            <a:picLocks noChangeAspect="1"/>
          </p:cNvPicPr>
          <p:nvPr/>
        </p:nvPicPr>
        <p:blipFill>
          <a:blip r:embed="rId3"/>
          <a:stretch>
            <a:fillRect/>
          </a:stretch>
        </p:blipFill>
        <p:spPr>
          <a:xfrm>
            <a:off x="1004711" y="1305455"/>
            <a:ext cx="7824963" cy="4846107"/>
          </a:xfrm>
          <a:prstGeom prst="rect">
            <a:avLst/>
          </a:prstGeom>
        </p:spPr>
      </p:pic>
      <p:sp>
        <p:nvSpPr>
          <p:cNvPr id="721" name="Google Shape;721;p37"/>
          <p:cNvSpPr txBox="1"/>
          <p:nvPr/>
        </p:nvSpPr>
        <p:spPr>
          <a:xfrm>
            <a:off x="8243887" y="6156325"/>
            <a:ext cx="585787"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fld id="{00000000-1234-1234-1234-123412341234}" type="slidenum">
              <a:rPr lang="en-US" sz="900" b="0" i="0" u="none" dirty="0">
                <a:solidFill>
                  <a:srgbClr val="898989"/>
                </a:solidFill>
                <a:latin typeface="Century Gothic"/>
                <a:ea typeface="Century Gothic"/>
                <a:cs typeface="Century Gothic"/>
                <a:sym typeface="Century Gothic"/>
              </a:rPr>
              <a:t>4</a:t>
            </a:fld>
            <a:r>
              <a:rPr lang="en-US" sz="900" b="0" i="0" u="none">
                <a:solidFill>
                  <a:srgbClr val="898989"/>
                </a:solidFill>
                <a:latin typeface="Century Gothic"/>
                <a:ea typeface="Century Gothic"/>
                <a:cs typeface="Century Gothic"/>
                <a:sym typeface="Century Gothic"/>
              </a:rPr>
              <a:t> of </a:t>
            </a:r>
            <a:r>
              <a:rPr lang="en-US" sz="900">
                <a:solidFill>
                  <a:srgbClr val="898989"/>
                </a:solidFill>
                <a:latin typeface="Century Gothic"/>
                <a:ea typeface="Century Gothic"/>
                <a:cs typeface="Century Gothic"/>
                <a:sym typeface="Century Gothic"/>
              </a:rPr>
              <a:t>18</a:t>
            </a:r>
            <a:endParaRPr/>
          </a:p>
        </p:txBody>
      </p:sp>
      <p:sp>
        <p:nvSpPr>
          <p:cNvPr id="722" name="Google Shape;722;p37"/>
          <p:cNvSpPr txBox="1"/>
          <p:nvPr/>
        </p:nvSpPr>
        <p:spPr>
          <a:xfrm>
            <a:off x="1943100" y="6156325"/>
            <a:ext cx="876300" cy="36988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a:t>
            </a:r>
            <a:endParaRPr/>
          </a:p>
        </p:txBody>
      </p:sp>
      <p:sp>
        <p:nvSpPr>
          <p:cNvPr id="723" name="Google Shape;723;p37"/>
          <p:cNvSpPr txBox="1"/>
          <p:nvPr/>
        </p:nvSpPr>
        <p:spPr>
          <a:xfrm>
            <a:off x="2819400" y="6156325"/>
            <a:ext cx="5257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Dept of CSE., SOE-Dayananda Sagar University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19" name="Google Shape;719;p37"/>
          <p:cNvSpPr txBox="1">
            <a:spLocks noGrp="1"/>
          </p:cNvSpPr>
          <p:nvPr>
            <p:ph type="title"/>
          </p:nvPr>
        </p:nvSpPr>
        <p:spPr>
          <a:xfrm>
            <a:off x="1676400" y="573087"/>
            <a:ext cx="6589712" cy="747712"/>
          </a:xfrm>
          <a:prstGeom prst="rect">
            <a:avLst/>
          </a:prstGeom>
          <a:noFill/>
          <a:ln>
            <a:noFill/>
          </a:ln>
        </p:spPr>
        <p:txBody>
          <a:bodyPr spcFirstLastPara="1" wrap="square" lIns="91425" tIns="45700" rIns="91425" bIns="45700" anchor="t" anchorCtr="0">
            <a:normAutofit fontScale="90000"/>
          </a:bodyPr>
          <a:lstStyle/>
          <a:p>
            <a:pPr lvl="0">
              <a:buClr>
                <a:srgbClr val="1581AA"/>
              </a:buClr>
              <a:buSzPts val="3200"/>
            </a:pPr>
            <a:r>
              <a:rPr lang="en-US" sz="3200" b="1" dirty="0">
                <a:latin typeface="Calibri"/>
                <a:ea typeface="Calibri"/>
                <a:cs typeface="Calibri"/>
                <a:sym typeface="Calibri"/>
              </a:rPr>
              <a:t>Literature Review and Research Gap</a:t>
            </a:r>
            <a:br>
              <a:rPr lang="en-US" sz="3200" b="1" i="0" u="none" dirty="0">
                <a:solidFill>
                  <a:srgbClr val="1581AA"/>
                </a:solidFill>
                <a:latin typeface="Calibri"/>
                <a:ea typeface="Calibri"/>
                <a:cs typeface="Calibri"/>
                <a:sym typeface="Calibri"/>
              </a:rPr>
            </a:br>
            <a:endParaRPr dirty="0"/>
          </a:p>
        </p:txBody>
      </p:sp>
      <p:sp>
        <p:nvSpPr>
          <p:cNvPr id="721" name="Google Shape;721;p37"/>
          <p:cNvSpPr txBox="1"/>
          <p:nvPr/>
        </p:nvSpPr>
        <p:spPr>
          <a:xfrm>
            <a:off x="8243887" y="6156325"/>
            <a:ext cx="585787"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fld id="{00000000-1234-1234-1234-123412341234}" type="slidenum">
              <a:rPr lang="en-US" sz="900" b="0" i="0" u="none" dirty="0">
                <a:solidFill>
                  <a:srgbClr val="898989"/>
                </a:solidFill>
                <a:latin typeface="Century Gothic"/>
                <a:ea typeface="Century Gothic"/>
                <a:cs typeface="Century Gothic"/>
                <a:sym typeface="Century Gothic"/>
              </a:rPr>
              <a:t>5</a:t>
            </a:fld>
            <a:r>
              <a:rPr lang="en-US" sz="900" b="0" i="0" u="none">
                <a:solidFill>
                  <a:srgbClr val="898989"/>
                </a:solidFill>
                <a:latin typeface="Century Gothic"/>
                <a:ea typeface="Century Gothic"/>
                <a:cs typeface="Century Gothic"/>
                <a:sym typeface="Century Gothic"/>
              </a:rPr>
              <a:t> of </a:t>
            </a:r>
            <a:r>
              <a:rPr lang="en-US" sz="900">
                <a:solidFill>
                  <a:srgbClr val="898989"/>
                </a:solidFill>
                <a:latin typeface="Century Gothic"/>
                <a:ea typeface="Century Gothic"/>
                <a:cs typeface="Century Gothic"/>
                <a:sym typeface="Century Gothic"/>
              </a:rPr>
              <a:t>18</a:t>
            </a:r>
            <a:endParaRPr/>
          </a:p>
        </p:txBody>
      </p:sp>
      <p:sp>
        <p:nvSpPr>
          <p:cNvPr id="722" name="Google Shape;722;p37"/>
          <p:cNvSpPr txBox="1"/>
          <p:nvPr/>
        </p:nvSpPr>
        <p:spPr>
          <a:xfrm>
            <a:off x="1943100" y="6156325"/>
            <a:ext cx="876300" cy="36988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a:t>
            </a:r>
            <a:endParaRPr/>
          </a:p>
        </p:txBody>
      </p:sp>
      <p:sp>
        <p:nvSpPr>
          <p:cNvPr id="723" name="Google Shape;723;p37"/>
          <p:cNvSpPr txBox="1"/>
          <p:nvPr/>
        </p:nvSpPr>
        <p:spPr>
          <a:xfrm>
            <a:off x="2819400" y="6156325"/>
            <a:ext cx="5257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Dept of CSE., SOE-Dayananda Sagar University</a:t>
            </a:r>
            <a:endParaRPr/>
          </a:p>
        </p:txBody>
      </p:sp>
      <p:sp>
        <p:nvSpPr>
          <p:cNvPr id="5" name="Rectangle 3"/>
          <p:cNvSpPr>
            <a:spLocks noGrp="1" noChangeArrowheads="1"/>
          </p:cNvSpPr>
          <p:nvPr>
            <p:ph type="body" idx="1"/>
          </p:nvPr>
        </p:nvSpPr>
        <p:spPr bwMode="auto">
          <a:xfrm>
            <a:off x="1080124" y="1717982"/>
            <a:ext cx="7782263" cy="2852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14300" indent="0">
              <a:buNone/>
            </a:pPr>
            <a:r>
              <a:rPr lang="en-US" b="1" dirty="0"/>
              <a:t>Research Gap</a:t>
            </a:r>
            <a:endParaRPr lang="en-US" dirty="0"/>
          </a:p>
          <a:p>
            <a:r>
              <a:rPr lang="en-US" dirty="0">
                <a:latin typeface="Calibri" panose="020F0502020204030204" pitchFamily="34" charset="0"/>
                <a:ea typeface="Calibri" panose="020F0502020204030204" pitchFamily="34" charset="0"/>
                <a:cs typeface="Calibri" panose="020F0502020204030204" pitchFamily="34" charset="0"/>
              </a:rPr>
              <a:t>Existing approaches primarily focus on image, multi-scale, or contextual features. </a:t>
            </a:r>
          </a:p>
          <a:p>
            <a:r>
              <a:rPr lang="en-US" dirty="0">
                <a:latin typeface="Calibri" panose="020F0502020204030204" pitchFamily="34" charset="0"/>
                <a:ea typeface="Calibri" panose="020F0502020204030204" pitchFamily="34" charset="0"/>
                <a:cs typeface="Calibri" panose="020F0502020204030204" pitchFamily="34" charset="0"/>
              </a:rPr>
              <a:t>Explicit representation of </a:t>
            </a:r>
            <a:r>
              <a:rPr lang="en-US" b="1" dirty="0">
                <a:latin typeface="Calibri" panose="020F0502020204030204" pitchFamily="34" charset="0"/>
                <a:ea typeface="Calibri" panose="020F0502020204030204" pitchFamily="34" charset="0"/>
                <a:cs typeface="Calibri" panose="020F0502020204030204" pitchFamily="34" charset="0"/>
              </a:rPr>
              <a:t>vessel connectivity/topology using graph learning</a:t>
            </a:r>
            <a:r>
              <a:rPr lang="en-US" dirty="0">
                <a:latin typeface="Calibri" panose="020F0502020204030204" pitchFamily="34" charset="0"/>
                <a:ea typeface="Calibri" panose="020F0502020204030204" pitchFamily="34" charset="0"/>
                <a:cs typeface="Calibri" panose="020F0502020204030204" pitchFamily="34" charset="0"/>
              </a:rPr>
              <a:t> is limited. </a:t>
            </a:r>
          </a:p>
          <a:p>
            <a:r>
              <a:rPr lang="en-US" dirty="0">
                <a:latin typeface="Calibri" panose="020F0502020204030204" pitchFamily="34" charset="0"/>
                <a:ea typeface="Calibri" panose="020F0502020204030204" pitchFamily="34" charset="0"/>
                <a:cs typeface="Calibri" panose="020F0502020204030204" pitchFamily="34" charset="0"/>
              </a:rPr>
              <a:t>The contribution of vascular topology to </a:t>
            </a:r>
            <a:r>
              <a:rPr lang="en-US" b="1" dirty="0">
                <a:latin typeface="Calibri" panose="020F0502020204030204" pitchFamily="34" charset="0"/>
                <a:ea typeface="Calibri" panose="020F0502020204030204" pitchFamily="34" charset="0"/>
                <a:cs typeface="Calibri" panose="020F0502020204030204" pitchFamily="34" charset="0"/>
              </a:rPr>
              <a:t>small aneurysm detection</a:t>
            </a:r>
            <a:r>
              <a:rPr lang="en-US" dirty="0">
                <a:latin typeface="Calibri" panose="020F0502020204030204" pitchFamily="34" charset="0"/>
                <a:ea typeface="Calibri" panose="020F0502020204030204" pitchFamily="34" charset="0"/>
                <a:cs typeface="Calibri" panose="020F0502020204030204" pitchFamily="34" charset="0"/>
              </a:rPr>
              <a:t> requires further investigation.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22456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38"/>
          <p:cNvSpPr txBox="1">
            <a:spLocks noGrp="1"/>
          </p:cNvSpPr>
          <p:nvPr>
            <p:ph type="title"/>
          </p:nvPr>
        </p:nvSpPr>
        <p:spPr>
          <a:xfrm>
            <a:off x="1676400" y="573087"/>
            <a:ext cx="6589712" cy="747712"/>
          </a:xfrm>
          <a:prstGeom prst="rect">
            <a:avLst/>
          </a:prstGeom>
          <a:noFill/>
          <a:ln>
            <a:noFill/>
          </a:ln>
        </p:spPr>
        <p:txBody>
          <a:bodyPr spcFirstLastPara="1" wrap="square" lIns="91425" tIns="45700" rIns="91425" bIns="45700" anchor="t" anchorCtr="0">
            <a:noAutofit/>
          </a:bodyPr>
          <a:lstStyle/>
          <a:p>
            <a:pPr lvl="0">
              <a:buClr>
                <a:srgbClr val="1581AA"/>
              </a:buClr>
              <a:buSzPts val="3600"/>
            </a:pPr>
            <a:r>
              <a:rPr lang="en-US" dirty="0"/>
              <a:t>Proposed Methodology</a:t>
            </a:r>
            <a:endParaRPr dirty="0"/>
          </a:p>
        </p:txBody>
      </p:sp>
      <p:sp>
        <p:nvSpPr>
          <p:cNvPr id="729" name="Google Shape;729;p38"/>
          <p:cNvSpPr txBox="1">
            <a:spLocks noGrp="1"/>
          </p:cNvSpPr>
          <p:nvPr>
            <p:ph type="body" idx="1"/>
          </p:nvPr>
        </p:nvSpPr>
        <p:spPr>
          <a:xfrm>
            <a:off x="1676400" y="1752600"/>
            <a:ext cx="6591300" cy="3778250"/>
          </a:xfrm>
          <a:prstGeom prst="rect">
            <a:avLst/>
          </a:prstGeom>
          <a:noFill/>
          <a:ln>
            <a:noFill/>
          </a:ln>
        </p:spPr>
        <p:txBody>
          <a:bodyPr spcFirstLastPara="1" wrap="square" lIns="91425" tIns="45700" rIns="91425" bIns="45700" anchor="t" anchorCtr="0">
            <a:noAutofit/>
          </a:bodyPr>
          <a:lstStyle/>
          <a:p>
            <a:pPr marL="342900" marR="0" lvl="0" indent="-228600" algn="l" rtl="0">
              <a:lnSpc>
                <a:spcPct val="100000"/>
              </a:lnSpc>
              <a:spcBef>
                <a:spcPts val="1000"/>
              </a:spcBef>
              <a:spcAft>
                <a:spcPts val="0"/>
              </a:spcAft>
              <a:buClr>
                <a:schemeClr val="accent1"/>
              </a:buClr>
              <a:buSzPts val="1800"/>
              <a:buFont typeface="Noto Sans Symbols"/>
              <a:buNone/>
            </a:pPr>
            <a:endParaRPr sz="1800" b="0" i="0" u="none" dirty="0">
              <a:solidFill>
                <a:srgbClr val="404040"/>
              </a:solidFill>
              <a:latin typeface="Calibri"/>
              <a:ea typeface="Calibri"/>
              <a:cs typeface="Calibri"/>
              <a:sym typeface="Calibri"/>
            </a:endParaRPr>
          </a:p>
          <a:p>
            <a:pPr marL="342900" marR="0" lvl="0" indent="-228600" algn="l" rtl="0">
              <a:spcBef>
                <a:spcPts val="1000"/>
              </a:spcBef>
              <a:spcAft>
                <a:spcPts val="0"/>
              </a:spcAft>
              <a:buClr>
                <a:schemeClr val="accent1"/>
              </a:buClr>
              <a:buSzPts val="1800"/>
              <a:buFont typeface="Noto Sans Symbols"/>
              <a:buNone/>
            </a:pPr>
            <a:endParaRPr sz="1800" b="0" i="0" u="none" dirty="0">
              <a:solidFill>
                <a:srgbClr val="404040"/>
              </a:solidFill>
              <a:latin typeface="Calibri"/>
              <a:ea typeface="Calibri"/>
              <a:cs typeface="Calibri"/>
              <a:sym typeface="Calibri"/>
            </a:endParaRPr>
          </a:p>
        </p:txBody>
      </p:sp>
      <p:sp>
        <p:nvSpPr>
          <p:cNvPr id="730" name="Google Shape;730;p38"/>
          <p:cNvSpPr txBox="1"/>
          <p:nvPr/>
        </p:nvSpPr>
        <p:spPr>
          <a:xfrm>
            <a:off x="7948612" y="6140450"/>
            <a:ext cx="776287"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fld id="{00000000-1234-1234-1234-123412341234}" type="slidenum">
              <a:rPr lang="en-US" sz="900" b="0" i="0" u="none" dirty="0">
                <a:solidFill>
                  <a:srgbClr val="898989"/>
                </a:solidFill>
                <a:latin typeface="Century Gothic"/>
                <a:ea typeface="Century Gothic"/>
                <a:cs typeface="Century Gothic"/>
                <a:sym typeface="Century Gothic"/>
              </a:rPr>
              <a:t>6</a:t>
            </a:fld>
            <a:r>
              <a:rPr lang="en-US" sz="900" b="0" i="0" u="none">
                <a:solidFill>
                  <a:srgbClr val="898989"/>
                </a:solidFill>
                <a:latin typeface="Century Gothic"/>
                <a:ea typeface="Century Gothic"/>
                <a:cs typeface="Century Gothic"/>
                <a:sym typeface="Century Gothic"/>
              </a:rPr>
              <a:t> of </a:t>
            </a:r>
            <a:r>
              <a:rPr lang="en-US" sz="900">
                <a:solidFill>
                  <a:srgbClr val="898989"/>
                </a:solidFill>
                <a:latin typeface="Century Gothic"/>
                <a:ea typeface="Century Gothic"/>
                <a:cs typeface="Century Gothic"/>
                <a:sym typeface="Century Gothic"/>
              </a:rPr>
              <a:t>18</a:t>
            </a:r>
            <a:endParaRPr/>
          </a:p>
        </p:txBody>
      </p:sp>
      <p:sp>
        <p:nvSpPr>
          <p:cNvPr id="731" name="Google Shape;731;p38"/>
          <p:cNvSpPr txBox="1"/>
          <p:nvPr/>
        </p:nvSpPr>
        <p:spPr>
          <a:xfrm>
            <a:off x="1943100" y="6156325"/>
            <a:ext cx="876300" cy="36988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a:t>
            </a:r>
            <a:endParaRPr/>
          </a:p>
        </p:txBody>
      </p:sp>
      <p:sp>
        <p:nvSpPr>
          <p:cNvPr id="732" name="Google Shape;732;p38"/>
          <p:cNvSpPr txBox="1"/>
          <p:nvPr/>
        </p:nvSpPr>
        <p:spPr>
          <a:xfrm>
            <a:off x="2819400" y="6156325"/>
            <a:ext cx="5129212"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Dept of CSE., SOE-Dayananda Sagar University</a:t>
            </a:r>
            <a:endParaRPr/>
          </a:p>
        </p:txBody>
      </p:sp>
      <p:pic>
        <p:nvPicPr>
          <p:cNvPr id="2" name="Picture 1"/>
          <p:cNvPicPr>
            <a:picLocks noChangeAspect="1"/>
          </p:cNvPicPr>
          <p:nvPr/>
        </p:nvPicPr>
        <p:blipFill>
          <a:blip r:embed="rId3"/>
          <a:stretch>
            <a:fillRect/>
          </a:stretch>
        </p:blipFill>
        <p:spPr>
          <a:xfrm>
            <a:off x="2246489" y="1185333"/>
            <a:ext cx="4730044" cy="495511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38"/>
          <p:cNvSpPr txBox="1">
            <a:spLocks noGrp="1"/>
          </p:cNvSpPr>
          <p:nvPr>
            <p:ph type="title"/>
          </p:nvPr>
        </p:nvSpPr>
        <p:spPr>
          <a:xfrm>
            <a:off x="1676400" y="573087"/>
            <a:ext cx="6589712" cy="747712"/>
          </a:xfrm>
          <a:prstGeom prst="rect">
            <a:avLst/>
          </a:prstGeom>
          <a:noFill/>
          <a:ln>
            <a:noFill/>
          </a:ln>
        </p:spPr>
        <p:txBody>
          <a:bodyPr spcFirstLastPara="1" wrap="square" lIns="91425" tIns="45700" rIns="91425" bIns="45700" anchor="t" anchorCtr="0">
            <a:noAutofit/>
          </a:bodyPr>
          <a:lstStyle/>
          <a:p>
            <a:pPr lvl="0">
              <a:buClr>
                <a:srgbClr val="1581AA"/>
              </a:buClr>
              <a:buSzPts val="3600"/>
            </a:pPr>
            <a:r>
              <a:rPr lang="en-US" dirty="0"/>
              <a:t>Proposed Methodology</a:t>
            </a:r>
            <a:endParaRPr dirty="0"/>
          </a:p>
        </p:txBody>
      </p:sp>
      <p:sp>
        <p:nvSpPr>
          <p:cNvPr id="729" name="Google Shape;729;p38"/>
          <p:cNvSpPr txBox="1">
            <a:spLocks noGrp="1"/>
          </p:cNvSpPr>
          <p:nvPr>
            <p:ph type="body" idx="1"/>
          </p:nvPr>
        </p:nvSpPr>
        <p:spPr>
          <a:xfrm>
            <a:off x="1027290" y="1336674"/>
            <a:ext cx="7416800" cy="4845228"/>
          </a:xfrm>
          <a:prstGeom prst="rect">
            <a:avLst/>
          </a:prstGeom>
          <a:noFill/>
          <a:ln>
            <a:noFill/>
          </a:ln>
        </p:spPr>
        <p:txBody>
          <a:bodyPr spcFirstLastPara="1" wrap="square" lIns="91425" tIns="45700" rIns="91425" bIns="45700" anchor="t" anchorCtr="0">
            <a:noAutofit/>
          </a:bodyPr>
          <a:lstStyle/>
          <a:p>
            <a:pPr marL="342900" lvl="0" indent="-228600">
              <a:buNone/>
            </a:pPr>
            <a:r>
              <a:rPr lang="en-IN" b="1" dirty="0">
                <a:latin typeface="Calibri" panose="020F0502020204030204" pitchFamily="34" charset="0"/>
                <a:ea typeface="Calibri" panose="020F0502020204030204" pitchFamily="34" charset="0"/>
                <a:cs typeface="Calibri" panose="020F0502020204030204" pitchFamily="34" charset="0"/>
              </a:rPr>
              <a:t>2.Methods &amp; Technologies</a:t>
            </a:r>
          </a:p>
          <a:p>
            <a:pPr marL="342900" lvl="0" indent="-228600">
              <a:buNone/>
            </a:pPr>
            <a:r>
              <a:rPr lang="en-US" b="1" dirty="0">
                <a:latin typeface="Calibri"/>
                <a:ea typeface="Calibri"/>
                <a:cs typeface="Calibri"/>
                <a:sym typeface="Calibri"/>
              </a:rPr>
              <a:t>    Algorithms</a:t>
            </a:r>
          </a:p>
          <a:p>
            <a:pPr marL="342900" indent="-228600">
              <a:buNone/>
            </a:pPr>
            <a:r>
              <a:rPr lang="en-US" b="1" dirty="0">
                <a:latin typeface="Calibri"/>
                <a:ea typeface="Calibri"/>
                <a:cs typeface="Calibri"/>
                <a:sym typeface="Calibri"/>
              </a:rPr>
              <a:t>    </a:t>
            </a:r>
            <a:r>
              <a:rPr lang="en-US">
                <a:latin typeface="Calibri"/>
                <a:ea typeface="Calibri"/>
                <a:cs typeface="Calibri"/>
                <a:sym typeface="Calibri"/>
              </a:rPr>
              <a:t>The proposed system will use a 3D image-processing and graph-learning pipeline. First, the angiographic images will undergo preprocessing such </a:t>
            </a:r>
            <a:r>
              <a:rPr lang="en-US" dirty="0">
                <a:latin typeface="Calibri"/>
                <a:ea typeface="Calibri"/>
                <a:cs typeface="Calibri"/>
                <a:sym typeface="Calibri"/>
              </a:rPr>
              <a:t>as resampling, intensity normalization, and 3D patch extraction.</a:t>
            </a:r>
            <a:endParaRPr lang="en-US" dirty="0">
              <a:latin typeface="Calibri"/>
              <a:ea typeface="Calibri"/>
              <a:cs typeface="Calibri"/>
            </a:endParaRPr>
          </a:p>
          <a:p>
            <a:pPr marL="342900" indent="-228600">
              <a:buNone/>
            </a:pPr>
            <a:r>
              <a:rPr lang="en-US" dirty="0">
                <a:latin typeface="Calibri"/>
                <a:ea typeface="Calibri"/>
                <a:cs typeface="Calibri"/>
                <a:sym typeface="Calibri"/>
              </a:rPr>
              <a:t> Vessel masks will then be obtained through 3D vessel segmentation, </a:t>
            </a:r>
            <a:r>
              <a:rPr lang="en-US">
                <a:latin typeface="Calibri"/>
                <a:ea typeface="Calibri"/>
                <a:cs typeface="Calibri"/>
                <a:sym typeface="Calibri"/>
              </a:rPr>
              <a:t>followed by skeletonization to represent the vascular structure.</a:t>
            </a:r>
            <a:endParaRPr lang="en-US">
              <a:ea typeface="Calibri"/>
              <a:cs typeface="Calibri"/>
              <a:sym typeface="Calibri"/>
            </a:endParaRPr>
          </a:p>
          <a:p>
            <a:pPr marL="342900" indent="-228600">
              <a:buNone/>
            </a:pPr>
            <a:r>
              <a:rPr lang="en-US" dirty="0">
                <a:latin typeface="Calibri"/>
                <a:ea typeface="Calibri"/>
                <a:cs typeface="Calibri"/>
                <a:sym typeface="Calibri"/>
              </a:rPr>
              <a:t> The vessel skeleton will be converted into a graph consisting of vessel nodes and connectivity edges. </a:t>
            </a:r>
            <a:endParaRPr lang="en-US">
              <a:ea typeface="Calibri"/>
              <a:cs typeface="Calibri"/>
              <a:sym typeface="Calibri"/>
            </a:endParaRPr>
          </a:p>
          <a:p>
            <a:pPr marL="342900" indent="-228600">
              <a:buNone/>
            </a:pPr>
            <a:r>
              <a:rPr lang="en-US">
                <a:latin typeface="Calibri"/>
                <a:ea typeface="Calibri"/>
                <a:cs typeface="Calibri"/>
                <a:sym typeface="Calibri"/>
              </a:rPr>
              <a:t>A Graph Attention Network (GAT) will then </a:t>
            </a:r>
            <a:r>
              <a:rPr lang="en-US" dirty="0">
                <a:latin typeface="Calibri"/>
                <a:ea typeface="Calibri"/>
                <a:cs typeface="Calibri"/>
                <a:sym typeface="Calibri"/>
              </a:rPr>
              <a:t>learn the importance of neighboring vessel structures. Finally, image and topology features will be fused for aneurysm classification.</a:t>
            </a:r>
            <a:endParaRPr lang="en-US"/>
          </a:p>
          <a:p>
            <a:pPr marL="114300" indent="0">
              <a:buNone/>
            </a:pP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730" name="Google Shape;730;p38"/>
          <p:cNvSpPr txBox="1"/>
          <p:nvPr/>
        </p:nvSpPr>
        <p:spPr>
          <a:xfrm>
            <a:off x="7948612" y="6140450"/>
            <a:ext cx="776287"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fld id="{00000000-1234-1234-1234-123412341234}" type="slidenum">
              <a:rPr lang="en-US" sz="900" b="0" i="0" u="none" dirty="0">
                <a:solidFill>
                  <a:srgbClr val="898989"/>
                </a:solidFill>
                <a:latin typeface="Century Gothic"/>
                <a:ea typeface="Century Gothic"/>
                <a:cs typeface="Century Gothic"/>
                <a:sym typeface="Century Gothic"/>
              </a:rPr>
              <a:t>7</a:t>
            </a:fld>
            <a:r>
              <a:rPr lang="en-US" sz="900" b="0" i="0" u="none">
                <a:solidFill>
                  <a:srgbClr val="898989"/>
                </a:solidFill>
                <a:latin typeface="Century Gothic"/>
                <a:ea typeface="Century Gothic"/>
                <a:cs typeface="Century Gothic"/>
                <a:sym typeface="Century Gothic"/>
              </a:rPr>
              <a:t> of </a:t>
            </a:r>
            <a:r>
              <a:rPr lang="en-US" sz="900">
                <a:solidFill>
                  <a:srgbClr val="898989"/>
                </a:solidFill>
                <a:latin typeface="Century Gothic"/>
                <a:ea typeface="Century Gothic"/>
                <a:cs typeface="Century Gothic"/>
                <a:sym typeface="Century Gothic"/>
              </a:rPr>
              <a:t>18</a:t>
            </a:r>
            <a:endParaRPr/>
          </a:p>
        </p:txBody>
      </p:sp>
      <p:sp>
        <p:nvSpPr>
          <p:cNvPr id="731" name="Google Shape;731;p38"/>
          <p:cNvSpPr txBox="1"/>
          <p:nvPr/>
        </p:nvSpPr>
        <p:spPr>
          <a:xfrm>
            <a:off x="2043113" y="6181902"/>
            <a:ext cx="876300" cy="36988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a:t>
            </a:r>
            <a:endParaRPr/>
          </a:p>
        </p:txBody>
      </p:sp>
      <p:sp>
        <p:nvSpPr>
          <p:cNvPr id="732" name="Google Shape;732;p38"/>
          <p:cNvSpPr txBox="1"/>
          <p:nvPr/>
        </p:nvSpPr>
        <p:spPr>
          <a:xfrm>
            <a:off x="2819400" y="6156325"/>
            <a:ext cx="5129212"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Dept of CSE., SOE-Dayananda Sagar University</a:t>
            </a:r>
            <a:endParaRPr/>
          </a:p>
        </p:txBody>
      </p:sp>
    </p:spTree>
    <p:extLst>
      <p:ext uri="{BB962C8B-B14F-4D97-AF65-F5344CB8AC3E}">
        <p14:creationId xmlns:p14="http://schemas.microsoft.com/office/powerpoint/2010/main" val="12833367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38"/>
          <p:cNvSpPr txBox="1">
            <a:spLocks noGrp="1"/>
          </p:cNvSpPr>
          <p:nvPr>
            <p:ph type="title"/>
          </p:nvPr>
        </p:nvSpPr>
        <p:spPr>
          <a:xfrm>
            <a:off x="1676400" y="573087"/>
            <a:ext cx="6589712" cy="747712"/>
          </a:xfrm>
          <a:prstGeom prst="rect">
            <a:avLst/>
          </a:prstGeom>
          <a:noFill/>
          <a:ln>
            <a:noFill/>
          </a:ln>
        </p:spPr>
        <p:txBody>
          <a:bodyPr spcFirstLastPara="1" wrap="square" lIns="91425" tIns="45700" rIns="91425" bIns="45700" anchor="t" anchorCtr="0">
            <a:noAutofit/>
          </a:bodyPr>
          <a:lstStyle/>
          <a:p>
            <a:pPr lvl="0">
              <a:buClr>
                <a:srgbClr val="1581AA"/>
              </a:buClr>
              <a:buSzPts val="3600"/>
            </a:pPr>
            <a:r>
              <a:rPr lang="en-US" dirty="0"/>
              <a:t>Proposed Methodology</a:t>
            </a:r>
            <a:endParaRPr dirty="0"/>
          </a:p>
        </p:txBody>
      </p:sp>
      <p:sp>
        <p:nvSpPr>
          <p:cNvPr id="729" name="Google Shape;729;p38"/>
          <p:cNvSpPr txBox="1">
            <a:spLocks noGrp="1"/>
          </p:cNvSpPr>
          <p:nvPr>
            <p:ph type="body" idx="1"/>
          </p:nvPr>
        </p:nvSpPr>
        <p:spPr>
          <a:xfrm>
            <a:off x="1027290" y="1336674"/>
            <a:ext cx="7238822" cy="4845228"/>
          </a:xfrm>
          <a:prstGeom prst="rect">
            <a:avLst/>
          </a:prstGeom>
          <a:noFill/>
          <a:ln>
            <a:noFill/>
          </a:ln>
        </p:spPr>
        <p:txBody>
          <a:bodyPr spcFirstLastPara="1" wrap="square" lIns="91425" tIns="45700" rIns="91425" bIns="45700" anchor="t" anchorCtr="0">
            <a:noAutofit/>
          </a:bodyPr>
          <a:lstStyle/>
          <a:p>
            <a:pPr marL="114300" indent="0">
              <a:buNone/>
            </a:pPr>
            <a:r>
              <a:rPr lang="en-IN" b="1" dirty="0">
                <a:latin typeface="Calibri" panose="020F0502020204030204" pitchFamily="34" charset="0"/>
                <a:ea typeface="Calibri" panose="020F0502020204030204" pitchFamily="34" charset="0"/>
                <a:cs typeface="Calibri" panose="020F0502020204030204" pitchFamily="34" charset="0"/>
              </a:rPr>
              <a:t>2.Methods &amp; Technologies</a:t>
            </a:r>
          </a:p>
          <a:p>
            <a:pPr marL="114300" indent="0">
              <a:buNone/>
            </a:pPr>
            <a:r>
              <a:rPr lang="en-US" b="1" dirty="0">
                <a:latin typeface="Calibri" panose="020F0502020204030204" pitchFamily="34" charset="0"/>
                <a:ea typeface="Calibri" panose="020F0502020204030204" pitchFamily="34" charset="0"/>
                <a:cs typeface="Calibri" panose="020F0502020204030204" pitchFamily="34" charset="0"/>
              </a:rPr>
              <a:t>Models</a:t>
            </a:r>
          </a:p>
          <a:p>
            <a:pPr marL="114300" indent="0">
              <a:buNone/>
            </a:pPr>
            <a:r>
              <a:rPr lang="en-US" dirty="0">
                <a:latin typeface="Calibri"/>
                <a:ea typeface="Calibri"/>
                <a:cs typeface="Calibri"/>
              </a:rPr>
              <a:t>The main image model will be a 3D </a:t>
            </a:r>
            <a:r>
              <a:rPr lang="en-US" dirty="0" err="1">
                <a:latin typeface="Calibri"/>
                <a:ea typeface="Calibri"/>
                <a:cs typeface="Calibri"/>
              </a:rPr>
              <a:t>ResNet</a:t>
            </a:r>
            <a:r>
              <a:rPr lang="en-US" dirty="0">
                <a:latin typeface="Calibri"/>
                <a:ea typeface="Calibri"/>
                <a:cs typeface="Calibri"/>
              </a:rPr>
              <a:t>, which extracts volumetric     features from CTA/TOF-MRA scans. </a:t>
            </a:r>
            <a:endParaRPr lang="en-IN" b="1" dirty="0">
              <a:latin typeface="Calibri"/>
              <a:ea typeface="Calibri"/>
              <a:cs typeface="Calibri"/>
            </a:endParaRPr>
          </a:p>
          <a:p>
            <a:pPr marL="114300" indent="0">
              <a:buNone/>
            </a:pPr>
            <a:r>
              <a:rPr lang="en-US" dirty="0">
                <a:latin typeface="Calibri"/>
                <a:ea typeface="Calibri"/>
                <a:cs typeface="Calibri"/>
              </a:rPr>
              <a:t>A 3D U-Net will be used for cerebral vessel segmentation so that the vascular structure can be isolated from the surrounding anatomy. </a:t>
            </a:r>
            <a:endParaRPr lang="en-IN" b="1">
              <a:latin typeface="Calibri"/>
              <a:ea typeface="Calibri"/>
              <a:cs typeface="Calibri"/>
            </a:endParaRPr>
          </a:p>
          <a:p>
            <a:pPr marL="114300" indent="0">
              <a:buNone/>
            </a:pPr>
            <a:r>
              <a:rPr lang="en-US" dirty="0">
                <a:latin typeface="Calibri"/>
                <a:ea typeface="Calibri"/>
                <a:cs typeface="Calibri"/>
              </a:rPr>
              <a:t>The segmented vessels will be converted into a graph and processed using a Graph Attention Network (GAT) to learn vascular connectivity and structural relationships. </a:t>
            </a:r>
            <a:endParaRPr lang="en-IN" b="1">
              <a:latin typeface="Calibri"/>
              <a:ea typeface="Calibri"/>
              <a:cs typeface="Calibri"/>
            </a:endParaRPr>
          </a:p>
          <a:p>
            <a:pPr marL="114300" indent="0">
              <a:buNone/>
            </a:pPr>
            <a:r>
              <a:rPr lang="en-US" dirty="0">
                <a:latin typeface="Calibri"/>
                <a:ea typeface="Calibri"/>
                <a:cs typeface="Calibri"/>
              </a:rPr>
              <a:t>The resulting GAT features will be combined with the 3D </a:t>
            </a:r>
            <a:r>
              <a:rPr lang="en-US" dirty="0" err="1">
                <a:latin typeface="Calibri"/>
                <a:ea typeface="Calibri"/>
                <a:cs typeface="Calibri"/>
              </a:rPr>
              <a:t>ResNet</a:t>
            </a:r>
            <a:r>
              <a:rPr lang="en-US" dirty="0">
                <a:latin typeface="Calibri"/>
                <a:ea typeface="Calibri"/>
                <a:cs typeface="Calibri"/>
              </a:rPr>
              <a:t> features using a feature-fusion layer, followed by an MLP classification head for aneurysm detection. </a:t>
            </a:r>
            <a:endParaRPr lang="en-IN" b="1">
              <a:latin typeface="Calibri"/>
              <a:ea typeface="Calibri"/>
              <a:cs typeface="Calibri"/>
            </a:endParaRPr>
          </a:p>
          <a:p>
            <a:pPr marL="114300" indent="0">
              <a:buNone/>
            </a:pPr>
            <a:r>
              <a:rPr lang="en-US" dirty="0">
                <a:latin typeface="Calibri"/>
                <a:ea typeface="Calibri"/>
                <a:cs typeface="Calibri"/>
              </a:rPr>
              <a:t>We will also develop a 3D CNN-only baseline to determine whether adding topology actually improves detection.</a:t>
            </a:r>
            <a:endParaRPr lang="en-IN" b="1">
              <a:latin typeface="Calibri"/>
              <a:ea typeface="Calibri"/>
              <a:cs typeface="Calibri"/>
            </a:endParaRPr>
          </a:p>
        </p:txBody>
      </p:sp>
      <p:sp>
        <p:nvSpPr>
          <p:cNvPr id="730" name="Google Shape;730;p38"/>
          <p:cNvSpPr txBox="1"/>
          <p:nvPr/>
        </p:nvSpPr>
        <p:spPr>
          <a:xfrm>
            <a:off x="7948612" y="6140450"/>
            <a:ext cx="776287"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fld id="{00000000-1234-1234-1234-123412341234}" type="slidenum">
              <a:rPr lang="en-US" sz="900" b="0" i="0" u="none" dirty="0">
                <a:solidFill>
                  <a:srgbClr val="898989"/>
                </a:solidFill>
                <a:latin typeface="Century Gothic"/>
                <a:ea typeface="Century Gothic"/>
                <a:cs typeface="Century Gothic"/>
                <a:sym typeface="Century Gothic"/>
              </a:rPr>
              <a:t>8</a:t>
            </a:fld>
            <a:r>
              <a:rPr lang="en-US" sz="900" b="0" i="0" u="none">
                <a:solidFill>
                  <a:srgbClr val="898989"/>
                </a:solidFill>
                <a:latin typeface="Century Gothic"/>
                <a:ea typeface="Century Gothic"/>
                <a:cs typeface="Century Gothic"/>
                <a:sym typeface="Century Gothic"/>
              </a:rPr>
              <a:t> of </a:t>
            </a:r>
            <a:r>
              <a:rPr lang="en-US" sz="900">
                <a:solidFill>
                  <a:srgbClr val="898989"/>
                </a:solidFill>
                <a:latin typeface="Century Gothic"/>
                <a:ea typeface="Century Gothic"/>
                <a:cs typeface="Century Gothic"/>
                <a:sym typeface="Century Gothic"/>
              </a:rPr>
              <a:t>18</a:t>
            </a:r>
            <a:endParaRPr/>
          </a:p>
        </p:txBody>
      </p:sp>
      <p:sp>
        <p:nvSpPr>
          <p:cNvPr id="731" name="Google Shape;731;p38"/>
          <p:cNvSpPr txBox="1"/>
          <p:nvPr/>
        </p:nvSpPr>
        <p:spPr>
          <a:xfrm>
            <a:off x="2043113" y="6181902"/>
            <a:ext cx="876300" cy="36988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a:t>
            </a:r>
            <a:endParaRPr/>
          </a:p>
        </p:txBody>
      </p:sp>
      <p:sp>
        <p:nvSpPr>
          <p:cNvPr id="732" name="Google Shape;732;p38"/>
          <p:cNvSpPr txBox="1"/>
          <p:nvPr/>
        </p:nvSpPr>
        <p:spPr>
          <a:xfrm>
            <a:off x="2819400" y="6156325"/>
            <a:ext cx="5129212"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Dept of CSE., SOE-Dayananda Sagar University</a:t>
            </a:r>
            <a:endParaRPr/>
          </a:p>
        </p:txBody>
      </p:sp>
    </p:spTree>
    <p:extLst>
      <p:ext uri="{BB962C8B-B14F-4D97-AF65-F5344CB8AC3E}">
        <p14:creationId xmlns:p14="http://schemas.microsoft.com/office/powerpoint/2010/main" val="3651373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38"/>
          <p:cNvSpPr txBox="1">
            <a:spLocks noGrp="1"/>
          </p:cNvSpPr>
          <p:nvPr>
            <p:ph type="title"/>
          </p:nvPr>
        </p:nvSpPr>
        <p:spPr>
          <a:xfrm>
            <a:off x="1676400" y="573087"/>
            <a:ext cx="6589712" cy="747712"/>
          </a:xfrm>
          <a:prstGeom prst="rect">
            <a:avLst/>
          </a:prstGeom>
          <a:noFill/>
          <a:ln>
            <a:noFill/>
          </a:ln>
        </p:spPr>
        <p:txBody>
          <a:bodyPr spcFirstLastPara="1" wrap="square" lIns="91425" tIns="45700" rIns="91425" bIns="45700" anchor="t" anchorCtr="0">
            <a:noAutofit/>
          </a:bodyPr>
          <a:lstStyle/>
          <a:p>
            <a:pPr lvl="0">
              <a:buClr>
                <a:srgbClr val="1581AA"/>
              </a:buClr>
              <a:buSzPts val="3600"/>
            </a:pPr>
            <a:r>
              <a:rPr lang="en-US" dirty="0"/>
              <a:t>Proposed Methodology</a:t>
            </a:r>
            <a:endParaRPr dirty="0"/>
          </a:p>
        </p:txBody>
      </p:sp>
      <p:sp>
        <p:nvSpPr>
          <p:cNvPr id="729" name="Google Shape;729;p38"/>
          <p:cNvSpPr txBox="1">
            <a:spLocks noGrp="1"/>
          </p:cNvSpPr>
          <p:nvPr>
            <p:ph type="body" idx="1"/>
          </p:nvPr>
        </p:nvSpPr>
        <p:spPr>
          <a:xfrm>
            <a:off x="1027290" y="1336674"/>
            <a:ext cx="7238822" cy="4845228"/>
          </a:xfrm>
          <a:prstGeom prst="rect">
            <a:avLst/>
          </a:prstGeom>
          <a:noFill/>
          <a:ln>
            <a:noFill/>
          </a:ln>
        </p:spPr>
        <p:txBody>
          <a:bodyPr spcFirstLastPara="1" wrap="square" lIns="91425" tIns="45700" rIns="91425" bIns="45700" anchor="t" anchorCtr="0">
            <a:noAutofit/>
          </a:bodyPr>
          <a:lstStyle/>
          <a:p>
            <a:pPr marL="114300" indent="0">
              <a:buNone/>
            </a:pPr>
            <a:r>
              <a:rPr lang="en-IN" b="1" dirty="0">
                <a:latin typeface="Calibri" panose="020F0502020204030204" pitchFamily="34" charset="0"/>
                <a:ea typeface="Calibri" panose="020F0502020204030204" pitchFamily="34" charset="0"/>
                <a:cs typeface="Calibri" panose="020F0502020204030204" pitchFamily="34" charset="0"/>
              </a:rPr>
              <a:t>2.Methods &amp; Technologies</a:t>
            </a:r>
          </a:p>
          <a:p>
            <a:pPr marL="114300" indent="0">
              <a:buNone/>
            </a:pPr>
            <a:r>
              <a:rPr lang="en-US" b="1" dirty="0">
                <a:latin typeface="Calibri" panose="020F0502020204030204" pitchFamily="34" charset="0"/>
                <a:ea typeface="Calibri" panose="020F0502020204030204" pitchFamily="34" charset="0"/>
                <a:cs typeface="Calibri" panose="020F0502020204030204" pitchFamily="34" charset="0"/>
              </a:rPr>
              <a:t>Datasets</a:t>
            </a:r>
          </a:p>
          <a:p>
            <a:pPr marL="114300" indent="0">
              <a:buNone/>
            </a:pPr>
            <a:r>
              <a:rPr lang="en-US" dirty="0">
                <a:latin typeface="Calibri"/>
                <a:ea typeface="Calibri"/>
                <a:cs typeface="Calibri"/>
              </a:rPr>
              <a:t>We will use the </a:t>
            </a:r>
            <a:r>
              <a:rPr lang="en-US" dirty="0" err="1">
                <a:latin typeface="Calibri"/>
                <a:ea typeface="Calibri"/>
                <a:cs typeface="Calibri"/>
              </a:rPr>
              <a:t>TopAneu</a:t>
            </a:r>
            <a:r>
              <a:rPr lang="en-US" dirty="0">
                <a:latin typeface="Calibri"/>
                <a:ea typeface="Calibri"/>
                <a:cs typeface="Calibri"/>
              </a:rPr>
              <a:t> 2026 dataset, a multimodal intracranial aneurysm dataset containing 3D MRA and CTA images along with </a:t>
            </a:r>
            <a:r>
              <a:rPr lang="en-US">
                <a:latin typeface="Calibri"/>
                <a:ea typeface="Calibri"/>
                <a:cs typeface="Calibri"/>
              </a:rPr>
              <a:t>aneurysm and cerebral vessel annotations.</a:t>
            </a:r>
            <a:endParaRPr lang="en-IN">
              <a:latin typeface="Calibri"/>
              <a:ea typeface="Calibri"/>
              <a:cs typeface="Calibri"/>
            </a:endParaRPr>
          </a:p>
          <a:p>
            <a:pPr marL="114300" indent="0">
              <a:buNone/>
            </a:pPr>
            <a:r>
              <a:rPr lang="en-US" dirty="0">
                <a:latin typeface="Calibri"/>
                <a:ea typeface="Calibri"/>
                <a:cs typeface="Calibri"/>
              </a:rPr>
              <a:t> It provides aneurysm location masks, location metadata, vessel segmentation masks, and aneurysm type masks, allowing us to study both aneurysm appearance and the surrounding vascular structure. </a:t>
            </a:r>
            <a:endParaRPr lang="en-IN">
              <a:latin typeface="Calibri"/>
              <a:ea typeface="Calibri"/>
              <a:cs typeface="Calibri"/>
            </a:endParaRPr>
          </a:p>
          <a:p>
            <a:pPr marL="114300" indent="0">
              <a:buNone/>
            </a:pPr>
            <a:r>
              <a:rPr lang="en-US">
                <a:latin typeface="Calibri"/>
                <a:ea typeface="Calibri"/>
                <a:cs typeface="Calibri"/>
              </a:rPr>
              <a:t>We </a:t>
            </a:r>
            <a:r>
              <a:rPr lang="en-US" dirty="0">
                <a:latin typeface="Calibri"/>
                <a:ea typeface="Calibri"/>
                <a:cs typeface="Calibri"/>
              </a:rPr>
              <a:t>selected </a:t>
            </a:r>
            <a:r>
              <a:rPr lang="en-US" dirty="0" err="1">
                <a:latin typeface="Calibri"/>
                <a:ea typeface="Calibri"/>
                <a:cs typeface="Calibri"/>
              </a:rPr>
              <a:t>TopAneu</a:t>
            </a:r>
            <a:r>
              <a:rPr lang="en-US" dirty="0">
                <a:latin typeface="Calibri"/>
                <a:ea typeface="Calibri"/>
                <a:cs typeface="Calibri"/>
              </a:rPr>
              <a:t> because its vessel annotations allow us to extract vessel topology and construct graphs for the GAT, while its aneurysm annotations provide the ground truth needed to train and evaluate our small intracranial aneurysm detection model.</a:t>
            </a:r>
            <a:endParaRPr lang="en-IN">
              <a:latin typeface="Calibri"/>
              <a:ea typeface="Calibri"/>
              <a:cs typeface="Calibri"/>
            </a:endParaRPr>
          </a:p>
        </p:txBody>
      </p:sp>
      <p:sp>
        <p:nvSpPr>
          <p:cNvPr id="730" name="Google Shape;730;p38"/>
          <p:cNvSpPr txBox="1"/>
          <p:nvPr/>
        </p:nvSpPr>
        <p:spPr>
          <a:xfrm>
            <a:off x="7948612" y="6140450"/>
            <a:ext cx="776287"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fld id="{00000000-1234-1234-1234-123412341234}" type="slidenum">
              <a:rPr lang="en-US" sz="900" b="0" i="0" u="none" dirty="0">
                <a:solidFill>
                  <a:srgbClr val="898989"/>
                </a:solidFill>
                <a:latin typeface="Century Gothic"/>
                <a:ea typeface="Century Gothic"/>
                <a:cs typeface="Century Gothic"/>
                <a:sym typeface="Century Gothic"/>
              </a:rPr>
              <a:t>9</a:t>
            </a:fld>
            <a:r>
              <a:rPr lang="en-US" sz="900" b="0" i="0" u="none">
                <a:solidFill>
                  <a:srgbClr val="898989"/>
                </a:solidFill>
                <a:latin typeface="Century Gothic"/>
                <a:ea typeface="Century Gothic"/>
                <a:cs typeface="Century Gothic"/>
                <a:sym typeface="Century Gothic"/>
              </a:rPr>
              <a:t> of </a:t>
            </a:r>
            <a:r>
              <a:rPr lang="en-US" sz="900">
                <a:solidFill>
                  <a:srgbClr val="898989"/>
                </a:solidFill>
                <a:latin typeface="Century Gothic"/>
                <a:ea typeface="Century Gothic"/>
                <a:cs typeface="Century Gothic"/>
                <a:sym typeface="Century Gothic"/>
              </a:rPr>
              <a:t>18</a:t>
            </a:r>
            <a:endParaRPr/>
          </a:p>
        </p:txBody>
      </p:sp>
      <p:sp>
        <p:nvSpPr>
          <p:cNvPr id="731" name="Google Shape;731;p38"/>
          <p:cNvSpPr txBox="1"/>
          <p:nvPr/>
        </p:nvSpPr>
        <p:spPr>
          <a:xfrm>
            <a:off x="2043113" y="6181902"/>
            <a:ext cx="876300" cy="36988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a:t>
            </a:r>
            <a:endParaRPr/>
          </a:p>
        </p:txBody>
      </p:sp>
      <p:sp>
        <p:nvSpPr>
          <p:cNvPr id="732" name="Google Shape;732;p38"/>
          <p:cNvSpPr txBox="1"/>
          <p:nvPr/>
        </p:nvSpPr>
        <p:spPr>
          <a:xfrm>
            <a:off x="2819400" y="6156325"/>
            <a:ext cx="5129212"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Dept of CSE., SOE-Dayananda Sagar University</a:t>
            </a:r>
            <a:endParaRPr/>
          </a:p>
        </p:txBody>
      </p:sp>
    </p:spTree>
    <p:extLst>
      <p:ext uri="{BB962C8B-B14F-4D97-AF65-F5344CB8AC3E}">
        <p14:creationId xmlns:p14="http://schemas.microsoft.com/office/powerpoint/2010/main" val="2654244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38"/>
          <p:cNvSpPr txBox="1">
            <a:spLocks noGrp="1"/>
          </p:cNvSpPr>
          <p:nvPr>
            <p:ph type="title"/>
          </p:nvPr>
        </p:nvSpPr>
        <p:spPr>
          <a:xfrm>
            <a:off x="1676400" y="573087"/>
            <a:ext cx="6589712" cy="747712"/>
          </a:xfrm>
          <a:prstGeom prst="rect">
            <a:avLst/>
          </a:prstGeom>
          <a:noFill/>
          <a:ln>
            <a:noFill/>
          </a:ln>
        </p:spPr>
        <p:txBody>
          <a:bodyPr spcFirstLastPara="1" wrap="square" lIns="91425" tIns="45700" rIns="91425" bIns="45700" anchor="t" anchorCtr="0">
            <a:noAutofit/>
          </a:bodyPr>
          <a:lstStyle/>
          <a:p>
            <a:pPr lvl="0">
              <a:buClr>
                <a:srgbClr val="1581AA"/>
              </a:buClr>
              <a:buSzPts val="3600"/>
            </a:pPr>
            <a:r>
              <a:rPr lang="en-US" dirty="0"/>
              <a:t>Proposed Methodology</a:t>
            </a:r>
            <a:endParaRPr dirty="0"/>
          </a:p>
        </p:txBody>
      </p:sp>
      <p:sp>
        <p:nvSpPr>
          <p:cNvPr id="729" name="Google Shape;729;p38"/>
          <p:cNvSpPr txBox="1">
            <a:spLocks noGrp="1"/>
          </p:cNvSpPr>
          <p:nvPr>
            <p:ph type="body" idx="1"/>
          </p:nvPr>
        </p:nvSpPr>
        <p:spPr>
          <a:xfrm>
            <a:off x="1027290" y="1336674"/>
            <a:ext cx="7238822" cy="4845228"/>
          </a:xfrm>
          <a:prstGeom prst="rect">
            <a:avLst/>
          </a:prstGeom>
          <a:noFill/>
          <a:ln>
            <a:noFill/>
          </a:ln>
        </p:spPr>
        <p:txBody>
          <a:bodyPr spcFirstLastPara="1" wrap="square" lIns="91425" tIns="45700" rIns="91425" bIns="45700" anchor="t" anchorCtr="0">
            <a:noAutofit/>
          </a:bodyPr>
          <a:lstStyle/>
          <a:p>
            <a:pPr marL="114300" indent="0">
              <a:buNone/>
            </a:pPr>
            <a:r>
              <a:rPr lang="en-IN" b="1" dirty="0">
                <a:latin typeface="Calibri" panose="020F0502020204030204" pitchFamily="34" charset="0"/>
                <a:ea typeface="Calibri" panose="020F0502020204030204" pitchFamily="34" charset="0"/>
                <a:cs typeface="Calibri" panose="020F0502020204030204" pitchFamily="34" charset="0"/>
              </a:rPr>
              <a:t>2.Methods &amp; Technologies</a:t>
            </a:r>
          </a:p>
          <a:p>
            <a:pPr marL="114300" indent="0">
              <a:buNone/>
            </a:pPr>
            <a:r>
              <a:rPr lang="en-US" b="1" dirty="0">
                <a:latin typeface="Calibri" panose="020F0502020204030204" pitchFamily="34" charset="0"/>
                <a:ea typeface="Calibri" panose="020F0502020204030204" pitchFamily="34" charset="0"/>
                <a:cs typeface="Calibri" panose="020F0502020204030204" pitchFamily="34" charset="0"/>
              </a:rPr>
              <a:t>Tools</a:t>
            </a:r>
          </a:p>
          <a:p>
            <a:pPr marL="114300" indent="0">
              <a:buNone/>
            </a:pPr>
            <a:r>
              <a:rPr lang="en-US" dirty="0">
                <a:latin typeface="Calibri"/>
                <a:ea typeface="Calibri"/>
                <a:cs typeface="Calibri"/>
              </a:rPr>
              <a:t>The project will primarily use Python and </a:t>
            </a:r>
            <a:r>
              <a:rPr lang="en-US" dirty="0" err="1">
                <a:latin typeface="Calibri"/>
                <a:ea typeface="Calibri"/>
                <a:cs typeface="Calibri"/>
              </a:rPr>
              <a:t>PyTorch</a:t>
            </a:r>
            <a:r>
              <a:rPr lang="en-US" dirty="0">
                <a:latin typeface="Calibri"/>
                <a:ea typeface="Calibri"/>
                <a:cs typeface="Calibri"/>
              </a:rPr>
              <a:t> for deep-learning development. MONAI will be used for medical-image preprocessing, 3D transformations, patch extraction, and medical imaging workflows.</a:t>
            </a:r>
            <a:endParaRPr lang="en-IN" dirty="0">
              <a:latin typeface="Calibri"/>
              <a:ea typeface="Calibri"/>
              <a:cs typeface="Calibri"/>
            </a:endParaRPr>
          </a:p>
          <a:p>
            <a:pPr marL="114300" indent="0">
              <a:buNone/>
            </a:pPr>
            <a:r>
              <a:rPr lang="en-US" dirty="0">
                <a:latin typeface="Calibri"/>
                <a:ea typeface="Calibri"/>
                <a:cs typeface="Calibri"/>
              </a:rPr>
              <a:t> </a:t>
            </a:r>
            <a:r>
              <a:rPr lang="en-US" dirty="0" err="1">
                <a:latin typeface="Calibri"/>
                <a:ea typeface="Calibri"/>
                <a:cs typeface="Calibri"/>
              </a:rPr>
              <a:t>PyTorch</a:t>
            </a:r>
            <a:r>
              <a:rPr lang="en-US" dirty="0">
                <a:latin typeface="Calibri"/>
                <a:ea typeface="Calibri"/>
                <a:cs typeface="Calibri"/>
              </a:rPr>
              <a:t> Geometric will be used to implement the Graph Attention Network and process the vessel graphs. </a:t>
            </a:r>
            <a:r>
              <a:rPr lang="en-US" dirty="0" err="1">
                <a:latin typeface="Calibri"/>
                <a:ea typeface="Calibri"/>
                <a:cs typeface="Calibri"/>
              </a:rPr>
              <a:t>NiBabel</a:t>
            </a:r>
            <a:r>
              <a:rPr lang="en-US" dirty="0">
                <a:latin typeface="Calibri"/>
                <a:ea typeface="Calibri"/>
                <a:cs typeface="Calibri"/>
              </a:rPr>
              <a:t>/</a:t>
            </a:r>
            <a:r>
              <a:rPr lang="en-US" dirty="0" err="1">
                <a:latin typeface="Calibri"/>
                <a:ea typeface="Calibri"/>
                <a:cs typeface="Calibri"/>
              </a:rPr>
              <a:t>SimpleITK</a:t>
            </a:r>
            <a:r>
              <a:rPr lang="en-US" dirty="0">
                <a:latin typeface="Calibri"/>
                <a:ea typeface="Calibri"/>
                <a:cs typeface="Calibri"/>
              </a:rPr>
              <a:t> will be used for medical-image loading and manipulation, while scikit-image can be used for skeletonization and morphological operations.</a:t>
            </a:r>
            <a:endParaRPr lang="en-IN" dirty="0">
              <a:latin typeface="Calibri"/>
              <a:ea typeface="Calibri"/>
              <a:cs typeface="Calibri"/>
            </a:endParaRPr>
          </a:p>
          <a:p>
            <a:pPr marL="114300" indent="0">
              <a:buNone/>
            </a:pPr>
            <a:r>
              <a:rPr lang="en-US" dirty="0">
                <a:latin typeface="Calibri"/>
                <a:ea typeface="Calibri"/>
                <a:cs typeface="Calibri"/>
              </a:rPr>
              <a:t> 3D Slicer will be used to visually inspect the CTA/MRA scans, vessel segmentation, and extracted vascular structures.</a:t>
            </a:r>
            <a:endParaRPr lang="en-IN">
              <a:latin typeface="Calibri"/>
              <a:ea typeface="Calibri"/>
              <a:cs typeface="Calibri"/>
            </a:endParaRPr>
          </a:p>
        </p:txBody>
      </p:sp>
      <p:sp>
        <p:nvSpPr>
          <p:cNvPr id="730" name="Google Shape;730;p38"/>
          <p:cNvSpPr txBox="1"/>
          <p:nvPr/>
        </p:nvSpPr>
        <p:spPr>
          <a:xfrm>
            <a:off x="7948612" y="6140450"/>
            <a:ext cx="776287"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fld id="{00000000-1234-1234-1234-123412341234}" type="slidenum">
              <a:rPr lang="en-US" sz="900" b="0" i="0" u="none" dirty="0">
                <a:solidFill>
                  <a:srgbClr val="898989"/>
                </a:solidFill>
                <a:latin typeface="Century Gothic"/>
                <a:ea typeface="Century Gothic"/>
                <a:cs typeface="Century Gothic"/>
                <a:sym typeface="Century Gothic"/>
              </a:rPr>
              <a:t>10</a:t>
            </a:fld>
            <a:r>
              <a:rPr lang="en-US" sz="900" b="0" i="0" u="none">
                <a:solidFill>
                  <a:srgbClr val="898989"/>
                </a:solidFill>
                <a:latin typeface="Century Gothic"/>
                <a:ea typeface="Century Gothic"/>
                <a:cs typeface="Century Gothic"/>
                <a:sym typeface="Century Gothic"/>
              </a:rPr>
              <a:t> of </a:t>
            </a:r>
            <a:r>
              <a:rPr lang="en-US" sz="900">
                <a:solidFill>
                  <a:srgbClr val="898989"/>
                </a:solidFill>
                <a:latin typeface="Century Gothic"/>
                <a:ea typeface="Century Gothic"/>
                <a:cs typeface="Century Gothic"/>
                <a:sym typeface="Century Gothic"/>
              </a:rPr>
              <a:t>18</a:t>
            </a:r>
            <a:endParaRPr/>
          </a:p>
        </p:txBody>
      </p:sp>
      <p:sp>
        <p:nvSpPr>
          <p:cNvPr id="731" name="Google Shape;731;p38"/>
          <p:cNvSpPr txBox="1"/>
          <p:nvPr/>
        </p:nvSpPr>
        <p:spPr>
          <a:xfrm>
            <a:off x="2043113" y="6181902"/>
            <a:ext cx="876300" cy="36988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a:t>
            </a:r>
            <a:endParaRPr/>
          </a:p>
        </p:txBody>
      </p:sp>
      <p:sp>
        <p:nvSpPr>
          <p:cNvPr id="732" name="Google Shape;732;p38"/>
          <p:cNvSpPr txBox="1"/>
          <p:nvPr/>
        </p:nvSpPr>
        <p:spPr>
          <a:xfrm>
            <a:off x="2819400" y="6156325"/>
            <a:ext cx="5129212"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Dept of CSE., SOE-Dayananda Sagar University</a:t>
            </a:r>
            <a:endParaRPr/>
          </a:p>
        </p:txBody>
      </p:sp>
    </p:spTree>
    <p:extLst>
      <p:ext uri="{BB962C8B-B14F-4D97-AF65-F5344CB8AC3E}">
        <p14:creationId xmlns:p14="http://schemas.microsoft.com/office/powerpoint/2010/main" val="42946568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38"/>
          <p:cNvSpPr txBox="1">
            <a:spLocks noGrp="1"/>
          </p:cNvSpPr>
          <p:nvPr>
            <p:ph type="title"/>
          </p:nvPr>
        </p:nvSpPr>
        <p:spPr>
          <a:xfrm>
            <a:off x="1676400" y="573087"/>
            <a:ext cx="6589712" cy="747712"/>
          </a:xfrm>
          <a:prstGeom prst="rect">
            <a:avLst/>
          </a:prstGeom>
          <a:noFill/>
          <a:ln>
            <a:noFill/>
          </a:ln>
        </p:spPr>
        <p:txBody>
          <a:bodyPr spcFirstLastPara="1" wrap="square" lIns="91425" tIns="45700" rIns="91425" bIns="45700" anchor="t" anchorCtr="0">
            <a:noAutofit/>
          </a:bodyPr>
          <a:lstStyle/>
          <a:p>
            <a:pPr lvl="0">
              <a:buClr>
                <a:srgbClr val="1581AA"/>
              </a:buClr>
              <a:buSzPts val="3600"/>
            </a:pPr>
            <a:r>
              <a:rPr lang="en-US" dirty="0"/>
              <a:t>Proposed Methodology</a:t>
            </a:r>
            <a:endParaRPr dirty="0"/>
          </a:p>
        </p:txBody>
      </p:sp>
      <p:sp>
        <p:nvSpPr>
          <p:cNvPr id="729" name="Google Shape;729;p38"/>
          <p:cNvSpPr txBox="1">
            <a:spLocks noGrp="1"/>
          </p:cNvSpPr>
          <p:nvPr>
            <p:ph type="body" idx="1"/>
          </p:nvPr>
        </p:nvSpPr>
        <p:spPr>
          <a:xfrm>
            <a:off x="1027290" y="1336674"/>
            <a:ext cx="7238822" cy="4845228"/>
          </a:xfrm>
          <a:prstGeom prst="rect">
            <a:avLst/>
          </a:prstGeom>
          <a:noFill/>
          <a:ln>
            <a:noFill/>
          </a:ln>
        </p:spPr>
        <p:txBody>
          <a:bodyPr spcFirstLastPara="1" wrap="square" lIns="91425" tIns="45700" rIns="91425" bIns="45700" anchor="t" anchorCtr="0">
            <a:noAutofit/>
          </a:bodyPr>
          <a:lstStyle/>
          <a:p>
            <a:pPr marL="114300" indent="0">
              <a:buNone/>
            </a:pPr>
            <a:r>
              <a:rPr lang="en-IN" b="1" dirty="0">
                <a:latin typeface="Calibri" panose="020F0502020204030204" pitchFamily="34" charset="0"/>
                <a:ea typeface="Calibri" panose="020F0502020204030204" pitchFamily="34" charset="0"/>
                <a:cs typeface="Calibri" panose="020F0502020204030204" pitchFamily="34" charset="0"/>
              </a:rPr>
              <a:t>2.Methods &amp; Technologies</a:t>
            </a:r>
          </a:p>
          <a:p>
            <a:pPr marL="114300" indent="0">
              <a:buNone/>
            </a:pPr>
            <a:r>
              <a:rPr lang="en-US" b="1" dirty="0">
                <a:latin typeface="Calibri" panose="020F0502020204030204" pitchFamily="34" charset="0"/>
                <a:ea typeface="Calibri" panose="020F0502020204030204" pitchFamily="34" charset="0"/>
                <a:cs typeface="Calibri" panose="020F0502020204030204" pitchFamily="34" charset="0"/>
              </a:rPr>
              <a:t>Technologies</a:t>
            </a:r>
          </a:p>
          <a:p>
            <a:pPr marL="114300" indent="0">
              <a:buNone/>
            </a:pPr>
            <a:r>
              <a:rPr lang="en-US" dirty="0">
                <a:latin typeface="Calibri"/>
                <a:ea typeface="Calibri"/>
                <a:cs typeface="Calibri"/>
              </a:rPr>
              <a:t>The project will use 3D deep learning, graph neural networks, medical image processing, and GPU computing. </a:t>
            </a:r>
            <a:r>
              <a:rPr lang="en-US" dirty="0" err="1">
                <a:latin typeface="Calibri"/>
                <a:ea typeface="Calibri"/>
                <a:cs typeface="Calibri"/>
              </a:rPr>
              <a:t>PyTorch</a:t>
            </a:r>
            <a:r>
              <a:rPr lang="en-US" dirty="0">
                <a:latin typeface="Calibri"/>
                <a:ea typeface="Calibri"/>
                <a:cs typeface="Calibri"/>
              </a:rPr>
              <a:t> will provide the deep-learning framework, CUDA will provide GPU acceleration, and </a:t>
            </a:r>
            <a:r>
              <a:rPr lang="en-US" dirty="0" err="1">
                <a:latin typeface="Calibri"/>
                <a:ea typeface="Calibri"/>
                <a:cs typeface="Calibri"/>
              </a:rPr>
              <a:t>PyTorch</a:t>
            </a:r>
            <a:r>
              <a:rPr lang="en-US" dirty="0">
                <a:latin typeface="Calibri"/>
                <a:ea typeface="Calibri"/>
                <a:cs typeface="Calibri"/>
              </a:rPr>
              <a:t> Geometric will provide graph-learning functionality. </a:t>
            </a:r>
            <a:endParaRPr lang="en-IN" dirty="0">
              <a:latin typeface="Calibri"/>
              <a:ea typeface="Calibri"/>
              <a:cs typeface="Calibri"/>
            </a:endParaRPr>
          </a:p>
          <a:p>
            <a:pPr marL="114300" indent="0">
              <a:buNone/>
            </a:pPr>
            <a:r>
              <a:rPr lang="en-US" dirty="0">
                <a:latin typeface="Calibri"/>
                <a:ea typeface="Calibri"/>
                <a:cs typeface="Calibri"/>
              </a:rPr>
              <a:t>The implementation will use CNN-based volumetric feature extraction, U-Net-based segmentation, graph construction, GAT-based topology </a:t>
            </a:r>
            <a:r>
              <a:rPr lang="en-US">
                <a:latin typeface="Calibri"/>
                <a:ea typeface="Calibri"/>
                <a:cs typeface="Calibri"/>
              </a:rPr>
              <a:t>learning, and multimodal feature fusion.</a:t>
            </a:r>
            <a:endParaRPr lang="en-IN">
              <a:latin typeface="Calibri"/>
              <a:ea typeface="Calibri"/>
              <a:cs typeface="Calibri"/>
            </a:endParaRPr>
          </a:p>
          <a:p>
            <a:pPr marL="114300" indent="0">
              <a:buNone/>
            </a:pPr>
            <a:r>
              <a:rPr lang="en-US" dirty="0">
                <a:latin typeface="Calibri"/>
                <a:ea typeface="Calibri"/>
                <a:cs typeface="Calibri"/>
              </a:rPr>
              <a:t> Git and GitHub will be used for version control, while </a:t>
            </a:r>
            <a:r>
              <a:rPr lang="en-US" dirty="0" err="1">
                <a:latin typeface="Calibri"/>
                <a:ea typeface="Calibri"/>
                <a:cs typeface="Calibri"/>
              </a:rPr>
              <a:t>TensorBoard</a:t>
            </a:r>
            <a:r>
              <a:rPr lang="en-US" dirty="0">
                <a:latin typeface="Calibri"/>
                <a:ea typeface="Calibri"/>
                <a:cs typeface="Calibri"/>
              </a:rPr>
              <a:t> or Weights &amp; Biases can be used for experiment tracking.</a:t>
            </a:r>
            <a:endParaRPr lang="en-IN">
              <a:latin typeface="Calibri"/>
              <a:ea typeface="Calibri"/>
              <a:cs typeface="Calibri"/>
            </a:endParaRPr>
          </a:p>
        </p:txBody>
      </p:sp>
      <p:sp>
        <p:nvSpPr>
          <p:cNvPr id="730" name="Google Shape;730;p38"/>
          <p:cNvSpPr txBox="1"/>
          <p:nvPr/>
        </p:nvSpPr>
        <p:spPr>
          <a:xfrm>
            <a:off x="7948612" y="6140450"/>
            <a:ext cx="776287"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fld id="{00000000-1234-1234-1234-123412341234}" type="slidenum">
              <a:rPr lang="en-US" sz="900" b="0" i="0" u="none" dirty="0">
                <a:solidFill>
                  <a:srgbClr val="898989"/>
                </a:solidFill>
                <a:latin typeface="Century Gothic"/>
                <a:ea typeface="Century Gothic"/>
                <a:cs typeface="Century Gothic"/>
                <a:sym typeface="Century Gothic"/>
              </a:rPr>
              <a:t>11</a:t>
            </a:fld>
            <a:r>
              <a:rPr lang="en-US" sz="900" b="0" i="0" u="none">
                <a:solidFill>
                  <a:srgbClr val="898989"/>
                </a:solidFill>
                <a:latin typeface="Century Gothic"/>
                <a:ea typeface="Century Gothic"/>
                <a:cs typeface="Century Gothic"/>
                <a:sym typeface="Century Gothic"/>
              </a:rPr>
              <a:t> of </a:t>
            </a:r>
            <a:r>
              <a:rPr lang="en-US" sz="900">
                <a:solidFill>
                  <a:srgbClr val="898989"/>
                </a:solidFill>
                <a:latin typeface="Century Gothic"/>
                <a:ea typeface="Century Gothic"/>
                <a:cs typeface="Century Gothic"/>
                <a:sym typeface="Century Gothic"/>
              </a:rPr>
              <a:t>18</a:t>
            </a:r>
            <a:endParaRPr/>
          </a:p>
        </p:txBody>
      </p:sp>
      <p:sp>
        <p:nvSpPr>
          <p:cNvPr id="731" name="Google Shape;731;p38"/>
          <p:cNvSpPr txBox="1"/>
          <p:nvPr/>
        </p:nvSpPr>
        <p:spPr>
          <a:xfrm>
            <a:off x="2043113" y="6181902"/>
            <a:ext cx="876300" cy="36988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a:t>
            </a:r>
            <a:endParaRPr/>
          </a:p>
        </p:txBody>
      </p:sp>
      <p:sp>
        <p:nvSpPr>
          <p:cNvPr id="732" name="Google Shape;732;p38"/>
          <p:cNvSpPr txBox="1"/>
          <p:nvPr/>
        </p:nvSpPr>
        <p:spPr>
          <a:xfrm>
            <a:off x="2819400" y="6156325"/>
            <a:ext cx="5129212"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Dept of CSE., SOE-Dayananda Sagar University</a:t>
            </a:r>
            <a:endParaRPr/>
          </a:p>
        </p:txBody>
      </p:sp>
    </p:spTree>
    <p:extLst>
      <p:ext uri="{BB962C8B-B14F-4D97-AF65-F5344CB8AC3E}">
        <p14:creationId xmlns:p14="http://schemas.microsoft.com/office/powerpoint/2010/main" val="3658605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38"/>
          <p:cNvSpPr txBox="1">
            <a:spLocks noGrp="1"/>
          </p:cNvSpPr>
          <p:nvPr>
            <p:ph type="title"/>
          </p:nvPr>
        </p:nvSpPr>
        <p:spPr>
          <a:xfrm>
            <a:off x="1676400" y="573087"/>
            <a:ext cx="6589712" cy="747712"/>
          </a:xfrm>
          <a:prstGeom prst="rect">
            <a:avLst/>
          </a:prstGeom>
          <a:noFill/>
          <a:ln>
            <a:noFill/>
          </a:ln>
        </p:spPr>
        <p:txBody>
          <a:bodyPr spcFirstLastPara="1" wrap="square" lIns="91425" tIns="45700" rIns="91425" bIns="45700" anchor="t" anchorCtr="0">
            <a:noAutofit/>
          </a:bodyPr>
          <a:lstStyle/>
          <a:p>
            <a:pPr lvl="0">
              <a:buClr>
                <a:srgbClr val="1581AA"/>
              </a:buClr>
              <a:buSzPts val="3600"/>
            </a:pPr>
            <a:r>
              <a:rPr lang="en-US" dirty="0"/>
              <a:t>Proposed Methodology</a:t>
            </a:r>
            <a:endParaRPr dirty="0"/>
          </a:p>
        </p:txBody>
      </p:sp>
      <p:sp>
        <p:nvSpPr>
          <p:cNvPr id="729" name="Google Shape;729;p38"/>
          <p:cNvSpPr txBox="1">
            <a:spLocks noGrp="1"/>
          </p:cNvSpPr>
          <p:nvPr>
            <p:ph type="body" idx="1"/>
          </p:nvPr>
        </p:nvSpPr>
        <p:spPr>
          <a:xfrm>
            <a:off x="1676400" y="1752600"/>
            <a:ext cx="6591300" cy="3778250"/>
          </a:xfrm>
          <a:prstGeom prst="rect">
            <a:avLst/>
          </a:prstGeom>
          <a:noFill/>
          <a:ln>
            <a:noFill/>
          </a:ln>
        </p:spPr>
        <p:txBody>
          <a:bodyPr spcFirstLastPara="1" wrap="square" lIns="91425" tIns="45700" rIns="91425" bIns="45700" anchor="t" anchorCtr="0">
            <a:noAutofit/>
          </a:bodyPr>
          <a:lstStyle/>
          <a:p>
            <a:pPr marL="342900" marR="0" lvl="0" indent="-228600" algn="l" rtl="0">
              <a:lnSpc>
                <a:spcPct val="100000"/>
              </a:lnSpc>
              <a:spcBef>
                <a:spcPts val="1000"/>
              </a:spcBef>
              <a:spcAft>
                <a:spcPts val="0"/>
              </a:spcAft>
              <a:buClr>
                <a:schemeClr val="accent1"/>
              </a:buClr>
              <a:buSzPts val="1800"/>
              <a:buFont typeface="Noto Sans Symbols"/>
              <a:buNone/>
            </a:pPr>
            <a:endParaRPr sz="1800" b="0" i="0" u="none" dirty="0">
              <a:solidFill>
                <a:srgbClr val="404040"/>
              </a:solidFill>
              <a:latin typeface="Calibri"/>
              <a:ea typeface="Calibri"/>
              <a:cs typeface="Calibri"/>
              <a:sym typeface="Calibri"/>
            </a:endParaRPr>
          </a:p>
          <a:p>
            <a:pPr marL="342900" marR="0" lvl="0" indent="-228600" algn="l" rtl="0">
              <a:spcBef>
                <a:spcPts val="1000"/>
              </a:spcBef>
              <a:spcAft>
                <a:spcPts val="0"/>
              </a:spcAft>
              <a:buClr>
                <a:schemeClr val="accent1"/>
              </a:buClr>
              <a:buSzPts val="1800"/>
              <a:buFont typeface="Noto Sans Symbols"/>
              <a:buNone/>
            </a:pPr>
            <a:endParaRPr sz="1800" b="0" i="0" u="none" dirty="0">
              <a:solidFill>
                <a:srgbClr val="404040"/>
              </a:solidFill>
              <a:latin typeface="Calibri"/>
              <a:ea typeface="Calibri"/>
              <a:cs typeface="Calibri"/>
              <a:sym typeface="Calibri"/>
            </a:endParaRPr>
          </a:p>
        </p:txBody>
      </p:sp>
      <p:sp>
        <p:nvSpPr>
          <p:cNvPr id="730" name="Google Shape;730;p38"/>
          <p:cNvSpPr txBox="1"/>
          <p:nvPr/>
        </p:nvSpPr>
        <p:spPr>
          <a:xfrm>
            <a:off x="7948612" y="6140450"/>
            <a:ext cx="776287"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fld id="{00000000-1234-1234-1234-123412341234}" type="slidenum">
              <a:rPr lang="en-US" sz="900" b="0" i="0" u="none" dirty="0">
                <a:solidFill>
                  <a:srgbClr val="898989"/>
                </a:solidFill>
                <a:latin typeface="Century Gothic"/>
                <a:ea typeface="Century Gothic"/>
                <a:cs typeface="Century Gothic"/>
                <a:sym typeface="Century Gothic"/>
              </a:rPr>
              <a:t>12</a:t>
            </a:fld>
            <a:r>
              <a:rPr lang="en-US" sz="900" b="0" i="0" u="none">
                <a:solidFill>
                  <a:srgbClr val="898989"/>
                </a:solidFill>
                <a:latin typeface="Century Gothic"/>
                <a:ea typeface="Century Gothic"/>
                <a:cs typeface="Century Gothic"/>
                <a:sym typeface="Century Gothic"/>
              </a:rPr>
              <a:t> of </a:t>
            </a:r>
            <a:r>
              <a:rPr lang="en-US" sz="900">
                <a:solidFill>
                  <a:srgbClr val="898989"/>
                </a:solidFill>
                <a:latin typeface="Century Gothic"/>
                <a:ea typeface="Century Gothic"/>
                <a:cs typeface="Century Gothic"/>
                <a:sym typeface="Century Gothic"/>
              </a:rPr>
              <a:t>18</a:t>
            </a:r>
            <a:endParaRPr/>
          </a:p>
        </p:txBody>
      </p:sp>
      <p:sp>
        <p:nvSpPr>
          <p:cNvPr id="731" name="Google Shape;731;p38"/>
          <p:cNvSpPr txBox="1"/>
          <p:nvPr/>
        </p:nvSpPr>
        <p:spPr>
          <a:xfrm>
            <a:off x="1943100" y="6156325"/>
            <a:ext cx="876300" cy="36988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a:t>
            </a:r>
            <a:endParaRPr/>
          </a:p>
        </p:txBody>
      </p:sp>
      <p:sp>
        <p:nvSpPr>
          <p:cNvPr id="732" name="Google Shape;732;p38"/>
          <p:cNvSpPr txBox="1"/>
          <p:nvPr/>
        </p:nvSpPr>
        <p:spPr>
          <a:xfrm>
            <a:off x="2819400" y="6156325"/>
            <a:ext cx="5129212"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Dept of CSE., SOE-Dayananda Sagar University</a:t>
            </a:r>
            <a:endParaRPr/>
          </a:p>
        </p:txBody>
      </p:sp>
      <p:pic>
        <p:nvPicPr>
          <p:cNvPr id="2" name="Picture 1"/>
          <p:cNvPicPr>
            <a:picLocks noChangeAspect="1"/>
          </p:cNvPicPr>
          <p:nvPr/>
        </p:nvPicPr>
        <p:blipFill>
          <a:blip r:embed="rId3"/>
          <a:stretch>
            <a:fillRect/>
          </a:stretch>
        </p:blipFill>
        <p:spPr>
          <a:xfrm>
            <a:off x="2477820" y="1320799"/>
            <a:ext cx="3905957" cy="4967113"/>
          </a:xfrm>
          <a:prstGeom prst="rect">
            <a:avLst/>
          </a:prstGeom>
        </p:spPr>
      </p:pic>
    </p:spTree>
    <p:extLst>
      <p:ext uri="{BB962C8B-B14F-4D97-AF65-F5344CB8AC3E}">
        <p14:creationId xmlns:p14="http://schemas.microsoft.com/office/powerpoint/2010/main" val="3006359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39"/>
          <p:cNvSpPr txBox="1">
            <a:spLocks noGrp="1"/>
          </p:cNvSpPr>
          <p:nvPr>
            <p:ph type="title"/>
          </p:nvPr>
        </p:nvSpPr>
        <p:spPr>
          <a:xfrm>
            <a:off x="1676399" y="573087"/>
            <a:ext cx="7048499" cy="747712"/>
          </a:xfrm>
          <a:prstGeom prst="rect">
            <a:avLst/>
          </a:prstGeom>
          <a:noFill/>
          <a:ln>
            <a:noFill/>
          </a:ln>
        </p:spPr>
        <p:txBody>
          <a:bodyPr spcFirstLastPara="1" wrap="square" lIns="91425" tIns="45700" rIns="91425" bIns="45700" anchor="t" anchorCtr="0">
            <a:noAutofit/>
          </a:bodyPr>
          <a:lstStyle/>
          <a:p>
            <a:pPr lvl="0">
              <a:buClr>
                <a:srgbClr val="1581AA"/>
              </a:buClr>
              <a:buSzPts val="2800"/>
            </a:pPr>
            <a:r>
              <a:rPr lang="en-US" sz="2800" b="1" dirty="0">
                <a:latin typeface="Calibri"/>
                <a:ea typeface="Calibri"/>
                <a:cs typeface="Calibri"/>
                <a:sym typeface="Calibri"/>
              </a:rPr>
              <a:t>Innovations and Objectives and expected Outcomes </a:t>
            </a:r>
            <a:br>
              <a:rPr lang="en-US" sz="2800" b="1" i="0" u="none" dirty="0">
                <a:solidFill>
                  <a:srgbClr val="1581AA"/>
                </a:solidFill>
                <a:latin typeface="Calibri"/>
                <a:ea typeface="Calibri"/>
                <a:cs typeface="Calibri"/>
                <a:sym typeface="Calibri"/>
              </a:rPr>
            </a:br>
            <a:endParaRPr dirty="0"/>
          </a:p>
        </p:txBody>
      </p:sp>
      <p:sp>
        <p:nvSpPr>
          <p:cNvPr id="738" name="Google Shape;738;p39"/>
          <p:cNvSpPr txBox="1">
            <a:spLocks noGrp="1"/>
          </p:cNvSpPr>
          <p:nvPr>
            <p:ph type="body" idx="1"/>
          </p:nvPr>
        </p:nvSpPr>
        <p:spPr>
          <a:xfrm>
            <a:off x="1676399" y="1524000"/>
            <a:ext cx="6648883" cy="4771447"/>
          </a:xfrm>
          <a:prstGeom prst="rect">
            <a:avLst/>
          </a:prstGeom>
          <a:noFill/>
          <a:ln>
            <a:noFill/>
          </a:ln>
        </p:spPr>
        <p:txBody>
          <a:bodyPr spcFirstLastPara="1" wrap="square" lIns="91425" tIns="45700" rIns="91425" bIns="45700" anchor="t" anchorCtr="0">
            <a:noAutofit/>
          </a:bodyPr>
          <a:lstStyle/>
          <a:p>
            <a:pPr marL="0" lvl="0" indent="0">
              <a:spcBef>
                <a:spcPts val="0"/>
              </a:spcBef>
              <a:buNone/>
            </a:pPr>
            <a:r>
              <a:rPr lang="en-US" sz="2000" b="1" dirty="0">
                <a:latin typeface="Calibri" panose="020F0502020204030204" pitchFamily="34" charset="0"/>
                <a:ea typeface="Calibri" panose="020F0502020204030204" pitchFamily="34" charset="0"/>
                <a:cs typeface="Calibri" panose="020F0502020204030204" pitchFamily="34" charset="0"/>
                <a:sym typeface="Calibri"/>
              </a:rPr>
              <a:t>Objectives</a:t>
            </a:r>
          </a:p>
          <a:p>
            <a:pPr marL="342900">
              <a:spcBef>
                <a:spcPts val="0"/>
              </a:spcBef>
              <a:buAutoNum type="arabicPeriod"/>
            </a:pPr>
            <a:r>
              <a:rPr lang="en-US" b="1" dirty="0">
                <a:latin typeface="Calibri"/>
                <a:ea typeface="Calibri"/>
                <a:cs typeface="Calibri"/>
                <a:sym typeface="Calibri"/>
              </a:rPr>
              <a:t> </a:t>
            </a:r>
            <a:r>
              <a:rPr lang="en-US" b="1">
                <a:latin typeface="Calibri"/>
                <a:ea typeface="Calibri"/>
                <a:cs typeface="Calibri"/>
                <a:sym typeface="Calibri"/>
              </a:rPr>
              <a:t>Improve Small Aneurysm Detection:</a:t>
            </a:r>
            <a:r>
              <a:rPr lang="en-US">
                <a:latin typeface="Calibri"/>
                <a:ea typeface="Calibri"/>
                <a:cs typeface="Calibri"/>
                <a:sym typeface="Calibri"/>
              </a:rPr>
              <a:t> Develop</a:t>
            </a:r>
            <a:r>
              <a:rPr lang="en-US" dirty="0">
                <a:latin typeface="Calibri"/>
                <a:ea typeface="Calibri"/>
                <a:cs typeface="Calibri"/>
                <a:sym typeface="Calibri"/>
              </a:rPr>
              <a:t> a 3D deep-learning model capable of detecting small intracranial aneurysms from angiographic medical images, where conventional image-based approaches may struggle due to their small size and similarity to normal vessels.</a:t>
            </a:r>
            <a:endParaRPr lang="en-US" dirty="0">
              <a:latin typeface="Calibri"/>
              <a:ea typeface="Calibri"/>
              <a:cs typeface="Calibri"/>
            </a:endParaRPr>
          </a:p>
          <a:p>
            <a:pPr marL="342900">
              <a:spcBef>
                <a:spcPts val="0"/>
              </a:spcBef>
              <a:buAutoNum type="arabicPeriod"/>
            </a:pPr>
            <a:endParaRPr lang="en-US" dirty="0">
              <a:latin typeface="Calibri"/>
              <a:ea typeface="Calibri"/>
              <a:cs typeface="Calibri"/>
              <a:sym typeface="Calibri"/>
            </a:endParaRPr>
          </a:p>
          <a:p>
            <a:pPr marL="342900">
              <a:spcBef>
                <a:spcPts val="0"/>
              </a:spcBef>
              <a:buAutoNum type="arabicPeriod"/>
            </a:pPr>
            <a:r>
              <a:rPr lang="en-US" b="1">
                <a:latin typeface="Calibri"/>
                <a:ea typeface="Calibri"/>
                <a:cs typeface="Calibri"/>
                <a:sym typeface="Calibri"/>
              </a:rPr>
              <a:t> Incorporate Vessel Topology:</a:t>
            </a:r>
            <a:r>
              <a:rPr lang="en-US">
                <a:latin typeface="Calibri"/>
                <a:ea typeface="Calibri"/>
                <a:cs typeface="Calibri"/>
                <a:sym typeface="Calibri"/>
              </a:rPr>
              <a:t> Represent</a:t>
            </a:r>
            <a:r>
              <a:rPr lang="en-US" dirty="0">
                <a:latin typeface="Calibri"/>
                <a:ea typeface="Calibri"/>
                <a:cs typeface="Calibri"/>
                <a:sym typeface="Calibri"/>
              </a:rPr>
              <a:t> the cerebral vascular network as a graph and use a Graph Attention Network (GAT) to learn structural relationships such as vessel connectivity, branches, and local vascular context.</a:t>
            </a:r>
            <a:endParaRPr lang="en-US" dirty="0">
              <a:latin typeface="Calibri"/>
              <a:ea typeface="Calibri"/>
              <a:cs typeface="Calibri"/>
            </a:endParaRPr>
          </a:p>
          <a:p>
            <a:pPr marL="342900">
              <a:spcBef>
                <a:spcPts val="0"/>
              </a:spcBef>
              <a:buAutoNum type="arabicPeriod"/>
            </a:pPr>
            <a:endParaRPr lang="en-US" dirty="0">
              <a:latin typeface="Calibri"/>
              <a:ea typeface="Calibri"/>
              <a:cs typeface="Calibri"/>
              <a:sym typeface="Calibri"/>
            </a:endParaRPr>
          </a:p>
          <a:p>
            <a:pPr marL="342900">
              <a:spcBef>
                <a:spcPts val="0"/>
              </a:spcBef>
              <a:buAutoNum type="arabicPeriod"/>
            </a:pPr>
            <a:r>
              <a:rPr lang="en-US" dirty="0">
                <a:latin typeface="Calibri"/>
                <a:ea typeface="Calibri"/>
                <a:cs typeface="Calibri"/>
                <a:sym typeface="Calibri"/>
              </a:rPr>
              <a:t> </a:t>
            </a:r>
            <a:r>
              <a:rPr lang="en-US" b="1">
                <a:latin typeface="Calibri"/>
                <a:ea typeface="Calibri"/>
                <a:cs typeface="Calibri"/>
                <a:sym typeface="Calibri"/>
              </a:rPr>
              <a:t>Evaluate the Benefit of Topology:</a:t>
            </a:r>
            <a:r>
              <a:rPr lang="en-US">
                <a:latin typeface="Calibri"/>
                <a:ea typeface="Calibri"/>
                <a:cs typeface="Calibri"/>
                <a:sym typeface="Calibri"/>
              </a:rPr>
              <a:t>  Combine 3D image </a:t>
            </a:r>
            <a:r>
              <a:rPr lang="en-US" dirty="0">
                <a:latin typeface="Calibri"/>
                <a:ea typeface="Calibri"/>
                <a:cs typeface="Calibri"/>
                <a:sym typeface="Calibri"/>
              </a:rPr>
              <a:t>features and vessel-topology features and systematically compare the proposed model with an image-only CNN baseline to determine whether topology improves aneurysm detection, particularly for small lesions.</a:t>
            </a:r>
            <a:endParaRPr sz="1800" b="0" i="0" u="none" dirty="0">
              <a:solidFill>
                <a:srgbClr val="404040"/>
              </a:solidFill>
              <a:latin typeface="Calibri"/>
              <a:ea typeface="Calibri"/>
              <a:cs typeface="Calibri"/>
            </a:endParaRPr>
          </a:p>
          <a:p>
            <a:pPr marR="0" lvl="0" algn="l" rtl="0">
              <a:spcBef>
                <a:spcPts val="1000"/>
              </a:spcBef>
              <a:spcAft>
                <a:spcPts val="0"/>
              </a:spcAft>
              <a:buClr>
                <a:schemeClr val="accent1"/>
              </a:buClr>
              <a:buSzPts val="1800"/>
              <a:buAutoNum type="arabicPeriod"/>
            </a:pPr>
            <a:endParaRPr sz="1800" b="0" i="0" u="none" dirty="0">
              <a:solidFill>
                <a:srgbClr val="404040"/>
              </a:solidFill>
              <a:latin typeface="Calibri" panose="020F0502020204030204" pitchFamily="34" charset="0"/>
              <a:ea typeface="Calibri" panose="020F0502020204030204" pitchFamily="34" charset="0"/>
              <a:cs typeface="Calibri" panose="020F0502020204030204" pitchFamily="34" charset="0"/>
            </a:endParaRPr>
          </a:p>
        </p:txBody>
      </p:sp>
      <p:sp>
        <p:nvSpPr>
          <p:cNvPr id="739" name="Google Shape;739;p39"/>
          <p:cNvSpPr txBox="1"/>
          <p:nvPr/>
        </p:nvSpPr>
        <p:spPr>
          <a:xfrm>
            <a:off x="7948612" y="6140450"/>
            <a:ext cx="776287"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fld id="{00000000-1234-1234-1234-123412341234}" type="slidenum">
              <a:rPr lang="en-US" sz="900" b="0" i="0" u="none" dirty="0">
                <a:solidFill>
                  <a:srgbClr val="898989"/>
                </a:solidFill>
                <a:latin typeface="Century Gothic"/>
                <a:ea typeface="Century Gothic"/>
                <a:cs typeface="Century Gothic"/>
                <a:sym typeface="Century Gothic"/>
              </a:rPr>
              <a:t>13</a:t>
            </a:fld>
            <a:r>
              <a:rPr lang="en-US" sz="900" b="0" i="0" u="none">
                <a:solidFill>
                  <a:srgbClr val="898989"/>
                </a:solidFill>
                <a:latin typeface="Century Gothic"/>
                <a:ea typeface="Century Gothic"/>
                <a:cs typeface="Century Gothic"/>
                <a:sym typeface="Century Gothic"/>
              </a:rPr>
              <a:t> of </a:t>
            </a:r>
            <a:r>
              <a:rPr lang="en-US" sz="900">
                <a:solidFill>
                  <a:srgbClr val="898989"/>
                </a:solidFill>
                <a:latin typeface="Century Gothic"/>
                <a:ea typeface="Century Gothic"/>
                <a:cs typeface="Century Gothic"/>
                <a:sym typeface="Century Gothic"/>
              </a:rPr>
              <a:t>18</a:t>
            </a:r>
            <a:endParaRPr/>
          </a:p>
        </p:txBody>
      </p:sp>
      <p:sp>
        <p:nvSpPr>
          <p:cNvPr id="740" name="Google Shape;740;p39"/>
          <p:cNvSpPr txBox="1"/>
          <p:nvPr/>
        </p:nvSpPr>
        <p:spPr>
          <a:xfrm>
            <a:off x="1943100" y="6156325"/>
            <a:ext cx="876300" cy="36988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a:t>
            </a:r>
            <a:endParaRPr/>
          </a:p>
        </p:txBody>
      </p:sp>
      <p:sp>
        <p:nvSpPr>
          <p:cNvPr id="741" name="Google Shape;741;p39"/>
          <p:cNvSpPr txBox="1"/>
          <p:nvPr/>
        </p:nvSpPr>
        <p:spPr>
          <a:xfrm>
            <a:off x="2819400" y="6156325"/>
            <a:ext cx="5129212"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Dept of CSE., SOE-Dayananda Sagar University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39"/>
          <p:cNvSpPr txBox="1">
            <a:spLocks noGrp="1"/>
          </p:cNvSpPr>
          <p:nvPr>
            <p:ph type="title"/>
          </p:nvPr>
        </p:nvSpPr>
        <p:spPr>
          <a:xfrm>
            <a:off x="1676399" y="573087"/>
            <a:ext cx="7048499" cy="747712"/>
          </a:xfrm>
          <a:prstGeom prst="rect">
            <a:avLst/>
          </a:prstGeom>
          <a:noFill/>
          <a:ln>
            <a:noFill/>
          </a:ln>
        </p:spPr>
        <p:txBody>
          <a:bodyPr spcFirstLastPara="1" wrap="square" lIns="91425" tIns="45700" rIns="91425" bIns="45700" anchor="t" anchorCtr="0">
            <a:noAutofit/>
          </a:bodyPr>
          <a:lstStyle/>
          <a:p>
            <a:pPr lvl="0">
              <a:buClr>
                <a:srgbClr val="1581AA"/>
              </a:buClr>
              <a:buSzPts val="2800"/>
            </a:pPr>
            <a:r>
              <a:rPr lang="en-US" sz="2800" b="1" dirty="0">
                <a:latin typeface="Calibri"/>
                <a:ea typeface="Calibri"/>
                <a:cs typeface="Calibri"/>
                <a:sym typeface="Calibri"/>
              </a:rPr>
              <a:t>Innovations and Objectives and expected Outcomes </a:t>
            </a:r>
            <a:br>
              <a:rPr lang="en-US" sz="2800" b="1" i="0" u="none" dirty="0">
                <a:solidFill>
                  <a:srgbClr val="1581AA"/>
                </a:solidFill>
                <a:latin typeface="Calibri"/>
                <a:ea typeface="Calibri"/>
                <a:cs typeface="Calibri"/>
                <a:sym typeface="Calibri"/>
              </a:rPr>
            </a:br>
            <a:endParaRPr dirty="0"/>
          </a:p>
        </p:txBody>
      </p:sp>
      <p:sp>
        <p:nvSpPr>
          <p:cNvPr id="738" name="Google Shape;738;p39"/>
          <p:cNvSpPr txBox="1">
            <a:spLocks noGrp="1"/>
          </p:cNvSpPr>
          <p:nvPr>
            <p:ph type="body" idx="1"/>
          </p:nvPr>
        </p:nvSpPr>
        <p:spPr>
          <a:xfrm>
            <a:off x="1676399" y="1524000"/>
            <a:ext cx="6620934" cy="4997450"/>
          </a:xfrm>
          <a:prstGeom prst="rect">
            <a:avLst/>
          </a:prstGeom>
          <a:noFill/>
          <a:ln>
            <a:noFill/>
          </a:ln>
        </p:spPr>
        <p:txBody>
          <a:bodyPr spcFirstLastPara="1" wrap="square" lIns="91425" tIns="45700" rIns="91425" bIns="45700" anchor="t" anchorCtr="0">
            <a:noAutofit/>
          </a:bodyPr>
          <a:lstStyle/>
          <a:p>
            <a:pPr marL="114300" lvl="0" indent="0">
              <a:buNone/>
            </a:pPr>
            <a:r>
              <a:rPr lang="en-US" b="1" dirty="0">
                <a:latin typeface="Calibri" panose="020F0502020204030204" pitchFamily="34" charset="0"/>
                <a:ea typeface="Calibri" panose="020F0502020204030204" pitchFamily="34" charset="0"/>
                <a:cs typeface="Calibri" panose="020F0502020204030204" pitchFamily="34" charset="0"/>
                <a:sym typeface="Calibri"/>
              </a:rPr>
              <a:t>INNOVATIONS</a:t>
            </a:r>
          </a:p>
          <a:p>
            <a:pPr>
              <a:buAutoNum type="arabicPeriod"/>
            </a:pPr>
            <a:r>
              <a:rPr lang="en-US" b="1" dirty="0">
                <a:latin typeface="Calibri"/>
                <a:ea typeface="Calibri"/>
                <a:cs typeface="Calibri"/>
                <a:sym typeface="Calibri"/>
              </a:rPr>
              <a:t>Explicit Vessel Topology </a:t>
            </a:r>
            <a:r>
              <a:rPr lang="en-US" b="1">
                <a:latin typeface="Calibri"/>
                <a:ea typeface="Calibri"/>
                <a:cs typeface="Calibri"/>
                <a:sym typeface="Calibri"/>
              </a:rPr>
              <a:t>Representation: </a:t>
            </a:r>
            <a:r>
              <a:rPr lang="en-US">
                <a:latin typeface="Calibri"/>
                <a:ea typeface="Calibri"/>
                <a:cs typeface="Calibri"/>
                <a:sym typeface="Calibri"/>
              </a:rPr>
              <a:t>Instead</a:t>
            </a:r>
            <a:r>
              <a:rPr lang="en-US" dirty="0">
                <a:latin typeface="Calibri"/>
                <a:ea typeface="Calibri"/>
                <a:cs typeface="Calibri"/>
                <a:sym typeface="Calibri"/>
              </a:rPr>
              <a:t> of relying only on image intensity and spatial features, we explicitly convert the vessel structure into a graph of nodes and connections and use it as additional information for detection.</a:t>
            </a:r>
            <a:endParaRPr lang="en-US" dirty="0">
              <a:latin typeface="Calibri"/>
              <a:ea typeface="Calibri"/>
              <a:cs typeface="Calibri"/>
            </a:endParaRPr>
          </a:p>
          <a:p>
            <a:pPr>
              <a:buAutoNum type="arabicPeriod"/>
            </a:pPr>
            <a:r>
              <a:rPr lang="en-US" b="1" dirty="0">
                <a:latin typeface="Calibri"/>
                <a:ea typeface="Calibri"/>
                <a:cs typeface="Calibri"/>
                <a:sym typeface="Calibri"/>
              </a:rPr>
              <a:t>CNN + GAT Feature Fusion:</a:t>
            </a:r>
            <a:r>
              <a:rPr lang="en-US" dirty="0">
                <a:latin typeface="Calibri"/>
                <a:ea typeface="Calibri"/>
                <a:cs typeface="Calibri"/>
                <a:sym typeface="Calibri"/>
              </a:rPr>
              <a:t> The proposed model combines 3D </a:t>
            </a:r>
            <a:r>
              <a:rPr lang="en-US" dirty="0" err="1">
                <a:latin typeface="Calibri"/>
                <a:ea typeface="Calibri"/>
                <a:cs typeface="Calibri"/>
                <a:sym typeface="Calibri"/>
              </a:rPr>
              <a:t>ResNet</a:t>
            </a:r>
            <a:r>
              <a:rPr lang="en-US" dirty="0">
                <a:latin typeface="Calibri"/>
                <a:ea typeface="Calibri"/>
                <a:cs typeface="Calibri"/>
                <a:sym typeface="Calibri"/>
              </a:rPr>
              <a:t> → image/appearance features GAT → vascular topology features→ Feature Fusion → Aneurysm Detection. This allows the model to consider both what the aneurysm looks like and where/how it is situated within the vessel network.</a:t>
            </a:r>
            <a:endParaRPr lang="en-US" dirty="0">
              <a:latin typeface="Calibri"/>
              <a:ea typeface="Calibri"/>
              <a:cs typeface="Calibri"/>
            </a:endParaRPr>
          </a:p>
          <a:p>
            <a:pPr>
              <a:buAutoNum type="arabicPeriod"/>
            </a:pPr>
            <a:r>
              <a:rPr lang="en-US" dirty="0">
                <a:latin typeface="Calibri"/>
                <a:ea typeface="Calibri"/>
                <a:cs typeface="Calibri"/>
                <a:sym typeface="Calibri"/>
              </a:rPr>
              <a:t> </a:t>
            </a:r>
            <a:r>
              <a:rPr lang="en-US" b="1" dirty="0">
                <a:latin typeface="Calibri"/>
                <a:ea typeface="Calibri"/>
                <a:cs typeface="Calibri"/>
                <a:sym typeface="Calibri"/>
              </a:rPr>
              <a:t>Focus on Small </a:t>
            </a:r>
            <a:r>
              <a:rPr lang="en-US" b="1">
                <a:latin typeface="Calibri"/>
                <a:ea typeface="Calibri"/>
                <a:cs typeface="Calibri"/>
                <a:sym typeface="Calibri"/>
              </a:rPr>
              <a:t>Aneurysms:</a:t>
            </a:r>
            <a:r>
              <a:rPr lang="en-US">
                <a:latin typeface="Calibri"/>
                <a:ea typeface="Calibri"/>
                <a:cs typeface="Calibri"/>
                <a:sym typeface="Calibri"/>
              </a:rPr>
              <a:t> Rather</a:t>
            </a:r>
            <a:r>
              <a:rPr lang="en-US" dirty="0">
                <a:latin typeface="Calibri"/>
                <a:ea typeface="Calibri"/>
                <a:cs typeface="Calibri"/>
                <a:sym typeface="Calibri"/>
              </a:rPr>
              <a:t> than reporting only overall detection performance, we will perform size-wise evaluation to investigate whether topology provides a greater advantage when aneurysms are very small.</a:t>
            </a:r>
            <a:endParaRPr sz="1800" b="0" i="0" u="none" dirty="0">
              <a:solidFill>
                <a:srgbClr val="404040"/>
              </a:solidFill>
              <a:latin typeface="Calibri"/>
              <a:ea typeface="Calibri"/>
              <a:cs typeface="Calibri"/>
              <a:sym typeface="Calibri"/>
            </a:endParaRPr>
          </a:p>
        </p:txBody>
      </p:sp>
      <p:sp>
        <p:nvSpPr>
          <p:cNvPr id="739" name="Google Shape;739;p39"/>
          <p:cNvSpPr txBox="1"/>
          <p:nvPr/>
        </p:nvSpPr>
        <p:spPr>
          <a:xfrm>
            <a:off x="7948612" y="6140450"/>
            <a:ext cx="776287"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fld id="{00000000-1234-1234-1234-123412341234}" type="slidenum">
              <a:rPr lang="en-US" sz="900" b="0" i="0" u="none" dirty="0">
                <a:solidFill>
                  <a:srgbClr val="898989"/>
                </a:solidFill>
                <a:latin typeface="Century Gothic"/>
                <a:ea typeface="Century Gothic"/>
                <a:cs typeface="Century Gothic"/>
                <a:sym typeface="Century Gothic"/>
              </a:rPr>
              <a:t>14</a:t>
            </a:fld>
            <a:r>
              <a:rPr lang="en-US" sz="900" b="0" i="0" u="none">
                <a:solidFill>
                  <a:srgbClr val="898989"/>
                </a:solidFill>
                <a:latin typeface="Century Gothic"/>
                <a:ea typeface="Century Gothic"/>
                <a:cs typeface="Century Gothic"/>
                <a:sym typeface="Century Gothic"/>
              </a:rPr>
              <a:t> of </a:t>
            </a:r>
            <a:r>
              <a:rPr lang="en-US" sz="900">
                <a:solidFill>
                  <a:srgbClr val="898989"/>
                </a:solidFill>
                <a:latin typeface="Century Gothic"/>
                <a:ea typeface="Century Gothic"/>
                <a:cs typeface="Century Gothic"/>
                <a:sym typeface="Century Gothic"/>
              </a:rPr>
              <a:t>18</a:t>
            </a:r>
            <a:endParaRPr/>
          </a:p>
        </p:txBody>
      </p:sp>
      <p:sp>
        <p:nvSpPr>
          <p:cNvPr id="740" name="Google Shape;740;p39"/>
          <p:cNvSpPr txBox="1"/>
          <p:nvPr/>
        </p:nvSpPr>
        <p:spPr>
          <a:xfrm>
            <a:off x="1943100" y="6156325"/>
            <a:ext cx="876300" cy="36988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a:t>
            </a:r>
            <a:endParaRPr/>
          </a:p>
        </p:txBody>
      </p:sp>
      <p:sp>
        <p:nvSpPr>
          <p:cNvPr id="741" name="Google Shape;741;p39"/>
          <p:cNvSpPr txBox="1"/>
          <p:nvPr/>
        </p:nvSpPr>
        <p:spPr>
          <a:xfrm>
            <a:off x="2819400" y="6156325"/>
            <a:ext cx="5129212"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Dept of CSE., SOE-Dayananda Sagar University</a:t>
            </a:r>
            <a:endParaRPr/>
          </a:p>
        </p:txBody>
      </p:sp>
    </p:spTree>
    <p:extLst>
      <p:ext uri="{BB962C8B-B14F-4D97-AF65-F5344CB8AC3E}">
        <p14:creationId xmlns:p14="http://schemas.microsoft.com/office/powerpoint/2010/main" val="14146970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39"/>
          <p:cNvSpPr txBox="1">
            <a:spLocks noGrp="1"/>
          </p:cNvSpPr>
          <p:nvPr>
            <p:ph type="title"/>
          </p:nvPr>
        </p:nvSpPr>
        <p:spPr>
          <a:xfrm>
            <a:off x="1676399" y="573087"/>
            <a:ext cx="7048499" cy="747712"/>
          </a:xfrm>
          <a:prstGeom prst="rect">
            <a:avLst/>
          </a:prstGeom>
          <a:noFill/>
          <a:ln>
            <a:noFill/>
          </a:ln>
        </p:spPr>
        <p:txBody>
          <a:bodyPr spcFirstLastPara="1" wrap="square" lIns="91425" tIns="45700" rIns="91425" bIns="45700" anchor="t" anchorCtr="0">
            <a:noAutofit/>
          </a:bodyPr>
          <a:lstStyle/>
          <a:p>
            <a:pPr lvl="0">
              <a:buClr>
                <a:srgbClr val="1581AA"/>
              </a:buClr>
              <a:buSzPts val="2800"/>
            </a:pPr>
            <a:r>
              <a:rPr lang="en-US" sz="2800" b="1" dirty="0">
                <a:latin typeface="Calibri"/>
                <a:ea typeface="Calibri"/>
                <a:cs typeface="Calibri"/>
                <a:sym typeface="Calibri"/>
              </a:rPr>
              <a:t>Innovations and Objectives and expected Outcomes </a:t>
            </a:r>
            <a:br>
              <a:rPr lang="en-US" sz="2800" b="1" i="0" u="none" dirty="0">
                <a:solidFill>
                  <a:srgbClr val="1581AA"/>
                </a:solidFill>
                <a:latin typeface="Calibri"/>
                <a:ea typeface="Calibri"/>
                <a:cs typeface="Calibri"/>
                <a:sym typeface="Calibri"/>
              </a:rPr>
            </a:br>
            <a:endParaRPr dirty="0"/>
          </a:p>
        </p:txBody>
      </p:sp>
      <p:sp>
        <p:nvSpPr>
          <p:cNvPr id="738" name="Google Shape;738;p39"/>
          <p:cNvSpPr txBox="1">
            <a:spLocks noGrp="1"/>
          </p:cNvSpPr>
          <p:nvPr>
            <p:ph type="body" idx="1"/>
          </p:nvPr>
        </p:nvSpPr>
        <p:spPr>
          <a:xfrm>
            <a:off x="1358419" y="1726624"/>
            <a:ext cx="7243714" cy="4245199"/>
          </a:xfrm>
          <a:prstGeom prst="rect">
            <a:avLst/>
          </a:prstGeom>
          <a:noFill/>
          <a:ln>
            <a:noFill/>
          </a:ln>
        </p:spPr>
        <p:txBody>
          <a:bodyPr spcFirstLastPara="1" wrap="square" lIns="91425" tIns="45700" rIns="91425" bIns="45700" anchor="t" anchorCtr="0">
            <a:noAutofit/>
          </a:bodyPr>
          <a:lstStyle/>
          <a:p>
            <a:pPr marL="0" lvl="0" indent="0">
              <a:spcBef>
                <a:spcPts val="0"/>
              </a:spcBef>
              <a:buNone/>
            </a:pPr>
            <a:r>
              <a:rPr lang="en-US" b="1" dirty="0">
                <a:latin typeface="Calibri"/>
                <a:ea typeface="Calibri"/>
                <a:cs typeface="Calibri"/>
                <a:sym typeface="Calibri"/>
              </a:rPr>
              <a:t>EXPECTED OUTCOMES</a:t>
            </a:r>
          </a:p>
          <a:p>
            <a:pPr marL="0" indent="0">
              <a:spcBef>
                <a:spcPts val="0"/>
              </a:spcBef>
              <a:buNone/>
            </a:pPr>
            <a:r>
              <a:rPr lang="en-US" b="1" dirty="0">
                <a:latin typeface="Calibri"/>
                <a:ea typeface="Calibri"/>
                <a:cs typeface="Calibri"/>
                <a:sym typeface="Calibri"/>
              </a:rPr>
              <a:t>1. Improved Detection Performance</a:t>
            </a:r>
            <a:r>
              <a:rPr lang="en-US">
                <a:latin typeface="Calibri"/>
                <a:ea typeface="Calibri"/>
                <a:cs typeface="Calibri"/>
                <a:sym typeface="Calibri"/>
              </a:rPr>
              <a:t>: The</a:t>
            </a:r>
            <a:r>
              <a:rPr lang="en-US" dirty="0">
                <a:latin typeface="Calibri"/>
                <a:ea typeface="Calibri"/>
                <a:cs typeface="Calibri"/>
                <a:sym typeface="Calibri"/>
              </a:rPr>
              <a:t> topology-aware CNN + GAT model is expected to improve aneurysm detection compared with the image-only CNN baseline, particularly in challenging small-aneurysm cases.</a:t>
            </a:r>
          </a:p>
          <a:p>
            <a:pPr marL="0" indent="0">
              <a:spcBef>
                <a:spcPts val="0"/>
              </a:spcBef>
              <a:buNone/>
            </a:pPr>
            <a:endParaRPr lang="en-US" dirty="0">
              <a:latin typeface="Calibri"/>
              <a:ea typeface="Calibri"/>
              <a:cs typeface="Calibri"/>
              <a:sym typeface="Calibri"/>
            </a:endParaRPr>
          </a:p>
          <a:p>
            <a:pPr marL="0" indent="0">
              <a:spcBef>
                <a:spcPts val="0"/>
              </a:spcBef>
              <a:buNone/>
            </a:pPr>
            <a:r>
              <a:rPr lang="en-US" b="1" dirty="0">
                <a:latin typeface="Calibri"/>
                <a:ea typeface="Calibri"/>
                <a:cs typeface="Calibri"/>
                <a:sym typeface="Calibri"/>
              </a:rPr>
              <a:t>2. Reduced False </a:t>
            </a:r>
            <a:r>
              <a:rPr lang="en-US" b="1">
                <a:latin typeface="Calibri"/>
                <a:ea typeface="Calibri"/>
                <a:cs typeface="Calibri"/>
                <a:sym typeface="Calibri"/>
              </a:rPr>
              <a:t>Positives: </a:t>
            </a:r>
            <a:r>
              <a:rPr lang="en-US" dirty="0">
                <a:latin typeface="Calibri"/>
                <a:ea typeface="Calibri"/>
                <a:cs typeface="Calibri"/>
                <a:sym typeface="Calibri"/>
              </a:rPr>
              <a:t>Using the surrounding vascular structure is expected to help distinguish aneurysms from normal vessel branches, junctions, and other visually similar structures, potentially reducing false-positive detections.</a:t>
            </a:r>
          </a:p>
          <a:p>
            <a:pPr marL="0" indent="0">
              <a:spcBef>
                <a:spcPts val="0"/>
              </a:spcBef>
              <a:buNone/>
            </a:pPr>
            <a:endParaRPr lang="en-US" dirty="0">
              <a:latin typeface="Calibri"/>
              <a:ea typeface="Calibri"/>
              <a:cs typeface="Calibri"/>
              <a:sym typeface="Calibri"/>
            </a:endParaRPr>
          </a:p>
          <a:p>
            <a:pPr marL="0" indent="0">
              <a:spcBef>
                <a:spcPts val="0"/>
              </a:spcBef>
              <a:buNone/>
            </a:pPr>
            <a:r>
              <a:rPr lang="en-US" b="1" dirty="0">
                <a:latin typeface="Calibri"/>
                <a:ea typeface="Calibri"/>
                <a:cs typeface="Calibri"/>
                <a:sym typeface="Calibri"/>
              </a:rPr>
              <a:t>3. Interpretable Topology-Aware System: </a:t>
            </a:r>
            <a:r>
              <a:rPr lang="en-US" dirty="0">
                <a:latin typeface="Calibri"/>
                <a:ea typeface="Calibri"/>
                <a:cs typeface="Calibri"/>
                <a:sym typeface="Calibri"/>
              </a:rPr>
              <a:t>The project will produce a pipeline that can </a:t>
            </a:r>
            <a:r>
              <a:rPr lang="en-US">
                <a:latin typeface="Calibri"/>
                <a:ea typeface="Calibri"/>
                <a:cs typeface="Calibri"/>
                <a:sym typeface="Calibri"/>
              </a:rPr>
              <a:t>visualize Medical</a:t>
            </a:r>
            <a:r>
              <a:rPr lang="en-US" dirty="0">
                <a:latin typeface="Calibri"/>
                <a:ea typeface="Calibri"/>
                <a:cs typeface="Calibri"/>
                <a:sym typeface="Calibri"/>
              </a:rPr>
              <a:t> Image → Vessel Segmentation → Skeleton → Vessel Graph → GAT → Aneurysm </a:t>
            </a:r>
            <a:r>
              <a:rPr lang="en-US">
                <a:latin typeface="Calibri"/>
                <a:ea typeface="Calibri"/>
                <a:cs typeface="Calibri"/>
                <a:sym typeface="Calibri"/>
              </a:rPr>
              <a:t>Prediction providing</a:t>
            </a:r>
            <a:r>
              <a:rPr lang="en-US" dirty="0">
                <a:latin typeface="Calibri"/>
                <a:ea typeface="Calibri"/>
                <a:cs typeface="Calibri"/>
                <a:sym typeface="Calibri"/>
              </a:rPr>
              <a:t> a more interpretable representation of how vascular structure contributes to the detection decision.</a:t>
            </a:r>
            <a:endParaRPr sz="1800" b="0" i="0" u="none" dirty="0">
              <a:solidFill>
                <a:srgbClr val="404040"/>
              </a:solidFill>
              <a:latin typeface="Calibri"/>
              <a:ea typeface="Calibri"/>
              <a:cs typeface="Calibri"/>
              <a:sym typeface="Calibri"/>
            </a:endParaRPr>
          </a:p>
          <a:p>
            <a:pPr marL="342900" marR="0" lvl="0" indent="-228600" algn="l" rtl="0">
              <a:spcBef>
                <a:spcPts val="1000"/>
              </a:spcBef>
              <a:spcAft>
                <a:spcPts val="0"/>
              </a:spcAft>
              <a:buClr>
                <a:schemeClr val="accent1"/>
              </a:buClr>
              <a:buSzPts val="1800"/>
              <a:buFont typeface="Noto Sans Symbols"/>
              <a:buNone/>
            </a:pPr>
            <a:endParaRPr sz="1800" b="0" i="0" u="none" dirty="0">
              <a:solidFill>
                <a:srgbClr val="404040"/>
              </a:solidFill>
              <a:latin typeface="Calibri"/>
              <a:ea typeface="Calibri"/>
              <a:cs typeface="Calibri"/>
              <a:sym typeface="Calibri"/>
            </a:endParaRPr>
          </a:p>
        </p:txBody>
      </p:sp>
      <p:sp>
        <p:nvSpPr>
          <p:cNvPr id="739" name="Google Shape;739;p39"/>
          <p:cNvSpPr txBox="1"/>
          <p:nvPr/>
        </p:nvSpPr>
        <p:spPr>
          <a:xfrm>
            <a:off x="7948612" y="6140450"/>
            <a:ext cx="776287"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fld id="{00000000-1234-1234-1234-123412341234}" type="slidenum">
              <a:rPr lang="en-US" sz="900" b="0" i="0" u="none" dirty="0">
                <a:solidFill>
                  <a:srgbClr val="898989"/>
                </a:solidFill>
                <a:latin typeface="Century Gothic"/>
                <a:ea typeface="Century Gothic"/>
                <a:cs typeface="Century Gothic"/>
                <a:sym typeface="Century Gothic"/>
              </a:rPr>
              <a:t>15</a:t>
            </a:fld>
            <a:r>
              <a:rPr lang="en-US" sz="900" b="0" i="0" u="none">
                <a:solidFill>
                  <a:srgbClr val="898989"/>
                </a:solidFill>
                <a:latin typeface="Century Gothic"/>
                <a:ea typeface="Century Gothic"/>
                <a:cs typeface="Century Gothic"/>
                <a:sym typeface="Century Gothic"/>
              </a:rPr>
              <a:t> of </a:t>
            </a:r>
            <a:r>
              <a:rPr lang="en-US" sz="900">
                <a:solidFill>
                  <a:srgbClr val="898989"/>
                </a:solidFill>
                <a:latin typeface="Century Gothic"/>
                <a:ea typeface="Century Gothic"/>
                <a:cs typeface="Century Gothic"/>
                <a:sym typeface="Century Gothic"/>
              </a:rPr>
              <a:t>18</a:t>
            </a:r>
            <a:endParaRPr/>
          </a:p>
        </p:txBody>
      </p:sp>
      <p:sp>
        <p:nvSpPr>
          <p:cNvPr id="740" name="Google Shape;740;p39"/>
          <p:cNvSpPr txBox="1"/>
          <p:nvPr/>
        </p:nvSpPr>
        <p:spPr>
          <a:xfrm>
            <a:off x="1943100" y="6156325"/>
            <a:ext cx="876300" cy="36988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a:t>
            </a:r>
            <a:endParaRPr/>
          </a:p>
        </p:txBody>
      </p:sp>
      <p:sp>
        <p:nvSpPr>
          <p:cNvPr id="741" name="Google Shape;741;p39"/>
          <p:cNvSpPr txBox="1"/>
          <p:nvPr/>
        </p:nvSpPr>
        <p:spPr>
          <a:xfrm>
            <a:off x="2819400" y="6156325"/>
            <a:ext cx="5129212"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Dept of CSE., SOE-Dayananda Sagar University</a:t>
            </a:r>
            <a:endParaRPr/>
          </a:p>
        </p:txBody>
      </p:sp>
    </p:spTree>
    <p:extLst>
      <p:ext uri="{BB962C8B-B14F-4D97-AF65-F5344CB8AC3E}">
        <p14:creationId xmlns:p14="http://schemas.microsoft.com/office/powerpoint/2010/main" val="2937146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p40"/>
          <p:cNvSpPr txBox="1">
            <a:spLocks noGrp="1"/>
          </p:cNvSpPr>
          <p:nvPr>
            <p:ph type="title"/>
          </p:nvPr>
        </p:nvSpPr>
        <p:spPr>
          <a:xfrm>
            <a:off x="1676400" y="573087"/>
            <a:ext cx="6589712" cy="747712"/>
          </a:xfrm>
          <a:prstGeom prst="rect">
            <a:avLst/>
          </a:prstGeom>
          <a:noFill/>
          <a:ln>
            <a:noFill/>
          </a:ln>
        </p:spPr>
        <p:txBody>
          <a:bodyPr spcFirstLastPara="1" wrap="square" lIns="91425" tIns="45700" rIns="91425" bIns="45700" anchor="t" anchorCtr="0">
            <a:noAutofit/>
          </a:bodyPr>
          <a:lstStyle/>
          <a:p>
            <a:pPr lvl="0">
              <a:buClr>
                <a:srgbClr val="1581AA"/>
              </a:buClr>
              <a:buSzPts val="3600"/>
            </a:pPr>
            <a:r>
              <a:rPr lang="en-US" dirty="0"/>
              <a:t>Feasibility evaluation and Project Planning</a:t>
            </a:r>
            <a:endParaRPr dirty="0"/>
          </a:p>
        </p:txBody>
      </p:sp>
      <p:sp>
        <p:nvSpPr>
          <p:cNvPr id="747" name="Google Shape;747;p40"/>
          <p:cNvSpPr txBox="1">
            <a:spLocks noGrp="1"/>
          </p:cNvSpPr>
          <p:nvPr>
            <p:ph type="body" idx="1"/>
          </p:nvPr>
        </p:nvSpPr>
        <p:spPr>
          <a:xfrm>
            <a:off x="1181100" y="1806223"/>
            <a:ext cx="7003344" cy="5051778"/>
          </a:xfrm>
          <a:prstGeom prst="rect">
            <a:avLst/>
          </a:prstGeom>
          <a:noFill/>
          <a:ln>
            <a:noFill/>
          </a:ln>
        </p:spPr>
        <p:txBody>
          <a:bodyPr spcFirstLastPara="1" wrap="square" lIns="91425" tIns="45700" rIns="91425" bIns="45700" anchor="t" anchorCtr="0">
            <a:noAutofit/>
          </a:bodyPr>
          <a:lstStyle/>
          <a:p>
            <a:r>
              <a:rPr lang="en-IN" b="1" dirty="0">
                <a:latin typeface="Calibri" panose="020F0502020204030204" pitchFamily="34" charset="0"/>
                <a:ea typeface="Calibri" panose="020F0502020204030204" pitchFamily="34" charset="0"/>
                <a:cs typeface="Calibri" panose="020F0502020204030204" pitchFamily="34" charset="0"/>
              </a:rPr>
              <a:t>Technical &amp; Resource Feasibility</a:t>
            </a:r>
            <a:br>
              <a:rPr lang="en-IN" dirty="0">
                <a:latin typeface="Calibri" panose="020F0502020204030204" pitchFamily="34" charset="0"/>
                <a:ea typeface="Calibri" panose="020F0502020204030204" pitchFamily="34" charset="0"/>
                <a:cs typeface="Calibri" panose="020F0502020204030204" pitchFamily="34" charset="0"/>
              </a:rPr>
            </a:br>
            <a:r>
              <a:rPr lang="en-IN" dirty="0" err="1">
                <a:latin typeface="Calibri" panose="020F0502020204030204" pitchFamily="34" charset="0"/>
                <a:ea typeface="Calibri" panose="020F0502020204030204" pitchFamily="34" charset="0"/>
                <a:cs typeface="Calibri" panose="020F0502020204030204" pitchFamily="34" charset="0"/>
              </a:rPr>
              <a:t>TopAneu</a:t>
            </a:r>
            <a:r>
              <a:rPr lang="en-IN" dirty="0">
                <a:latin typeface="Calibri" panose="020F0502020204030204" pitchFamily="34" charset="0"/>
                <a:ea typeface="Calibri" panose="020F0502020204030204" pitchFamily="34" charset="0"/>
                <a:cs typeface="Calibri" panose="020F0502020204030204" pitchFamily="34" charset="0"/>
              </a:rPr>
              <a:t> 2026| Python + </a:t>
            </a:r>
            <a:r>
              <a:rPr lang="en-IN" dirty="0" err="1">
                <a:latin typeface="Calibri" panose="020F0502020204030204" pitchFamily="34" charset="0"/>
                <a:ea typeface="Calibri" panose="020F0502020204030204" pitchFamily="34" charset="0"/>
                <a:cs typeface="Calibri" panose="020F0502020204030204" pitchFamily="34" charset="0"/>
              </a:rPr>
              <a:t>PyTorch</a:t>
            </a:r>
            <a:r>
              <a:rPr lang="en-IN" dirty="0">
                <a:latin typeface="Calibri" panose="020F0502020204030204" pitchFamily="34" charset="0"/>
                <a:ea typeface="Calibri" panose="020F0502020204030204" pitchFamily="34" charset="0"/>
                <a:cs typeface="Calibri" panose="020F0502020204030204" pitchFamily="34" charset="0"/>
              </a:rPr>
              <a:t>/MONAI | 3D </a:t>
            </a:r>
            <a:r>
              <a:rPr lang="en-IN" dirty="0" err="1">
                <a:latin typeface="Calibri" panose="020F0502020204030204" pitchFamily="34" charset="0"/>
                <a:ea typeface="Calibri" panose="020F0502020204030204" pitchFamily="34" charset="0"/>
                <a:cs typeface="Calibri" panose="020F0502020204030204" pitchFamily="34" charset="0"/>
              </a:rPr>
              <a:t>ResNet</a:t>
            </a:r>
            <a:r>
              <a:rPr lang="en-IN" dirty="0">
                <a:latin typeface="Calibri" panose="020F0502020204030204" pitchFamily="34" charset="0"/>
                <a:ea typeface="Calibri" panose="020F0502020204030204" pitchFamily="34" charset="0"/>
                <a:cs typeface="Calibri" panose="020F0502020204030204" pitchFamily="34" charset="0"/>
              </a:rPr>
              <a:t> + 3D U-Net + GAT | GPU/Cloud</a:t>
            </a:r>
          </a:p>
          <a:p>
            <a:r>
              <a:rPr lang="en-IN" b="1" dirty="0">
                <a:latin typeface="Calibri" panose="020F0502020204030204" pitchFamily="34" charset="0"/>
                <a:ea typeface="Calibri" panose="020F0502020204030204" pitchFamily="34" charset="0"/>
                <a:cs typeface="Calibri" panose="020F0502020204030204" pitchFamily="34" charset="0"/>
              </a:rPr>
              <a:t>Timeline &amp; Milestones</a:t>
            </a:r>
            <a:br>
              <a:rPr lang="en-IN" dirty="0">
                <a:latin typeface="Calibri" panose="020F0502020204030204" pitchFamily="34" charset="0"/>
                <a:ea typeface="Calibri" panose="020F0502020204030204" pitchFamily="34" charset="0"/>
                <a:cs typeface="Calibri" panose="020F0502020204030204" pitchFamily="34" charset="0"/>
              </a:rPr>
            </a:br>
            <a:r>
              <a:rPr lang="en-IN" dirty="0">
                <a:latin typeface="Calibri" panose="020F0502020204030204" pitchFamily="34" charset="0"/>
                <a:ea typeface="Calibri" panose="020F0502020204030204" pitchFamily="34" charset="0"/>
                <a:cs typeface="Calibri" panose="020F0502020204030204" pitchFamily="34" charset="0"/>
              </a:rPr>
              <a:t>Data → Baseline → Segmentation → Graph → GAT → Fusion → Evaluation → Finalization</a:t>
            </a:r>
          </a:p>
          <a:p>
            <a:r>
              <a:rPr lang="en-IN" b="1" dirty="0">
                <a:latin typeface="Calibri" panose="020F0502020204030204" pitchFamily="34" charset="0"/>
                <a:ea typeface="Calibri" panose="020F0502020204030204" pitchFamily="34" charset="0"/>
                <a:cs typeface="Calibri" panose="020F0502020204030204" pitchFamily="34" charset="0"/>
              </a:rPr>
              <a:t>Risk &amp; Mitigation</a:t>
            </a:r>
            <a:br>
              <a:rPr lang="en-IN" dirty="0">
                <a:latin typeface="Calibri" panose="020F0502020204030204" pitchFamily="34" charset="0"/>
                <a:ea typeface="Calibri" panose="020F0502020204030204" pitchFamily="34" charset="0"/>
                <a:cs typeface="Calibri" panose="020F0502020204030204" pitchFamily="34" charset="0"/>
              </a:rPr>
            </a:br>
            <a:r>
              <a:rPr lang="en-IN" dirty="0">
                <a:latin typeface="Calibri" panose="020F0502020204030204" pitchFamily="34" charset="0"/>
                <a:ea typeface="Calibri" panose="020F0502020204030204" pitchFamily="34" charset="0"/>
                <a:cs typeface="Calibri" panose="020F0502020204030204" pitchFamily="34" charset="0"/>
              </a:rPr>
              <a:t>Data imbalance → Augmentation</a:t>
            </a:r>
            <a:br>
              <a:rPr lang="en-IN" dirty="0">
                <a:latin typeface="Calibri" panose="020F0502020204030204" pitchFamily="34" charset="0"/>
                <a:ea typeface="Calibri" panose="020F0502020204030204" pitchFamily="34" charset="0"/>
                <a:cs typeface="Calibri" panose="020F0502020204030204" pitchFamily="34" charset="0"/>
              </a:rPr>
            </a:br>
            <a:r>
              <a:rPr lang="en-IN" dirty="0">
                <a:latin typeface="Calibri" panose="020F0502020204030204" pitchFamily="34" charset="0"/>
                <a:ea typeface="Calibri" panose="020F0502020204030204" pitchFamily="34" charset="0"/>
                <a:cs typeface="Calibri" panose="020F0502020204030204" pitchFamily="34" charset="0"/>
              </a:rPr>
              <a:t>3D computation → Patch-based GPU processing</a:t>
            </a:r>
            <a:br>
              <a:rPr lang="en-IN" dirty="0">
                <a:latin typeface="Calibri" panose="020F0502020204030204" pitchFamily="34" charset="0"/>
                <a:ea typeface="Calibri" panose="020F0502020204030204" pitchFamily="34" charset="0"/>
                <a:cs typeface="Calibri" panose="020F0502020204030204" pitchFamily="34" charset="0"/>
              </a:rPr>
            </a:br>
            <a:r>
              <a:rPr lang="en-IN" dirty="0">
                <a:latin typeface="Calibri" panose="020F0502020204030204" pitchFamily="34" charset="0"/>
                <a:ea typeface="Calibri" panose="020F0502020204030204" pitchFamily="34" charset="0"/>
                <a:cs typeface="Calibri" panose="020F0502020204030204" pitchFamily="34" charset="0"/>
              </a:rPr>
              <a:t>Segmentation errors → Dice/</a:t>
            </a:r>
            <a:r>
              <a:rPr lang="en-IN" dirty="0" err="1">
                <a:latin typeface="Calibri" panose="020F0502020204030204" pitchFamily="34" charset="0"/>
                <a:ea typeface="Calibri" panose="020F0502020204030204" pitchFamily="34" charset="0"/>
                <a:cs typeface="Calibri" panose="020F0502020204030204" pitchFamily="34" charset="0"/>
              </a:rPr>
              <a:t>IoU</a:t>
            </a:r>
            <a:r>
              <a:rPr lang="en-IN" dirty="0">
                <a:latin typeface="Calibri" panose="020F0502020204030204" pitchFamily="34" charset="0"/>
                <a:ea typeface="Calibri" panose="020F0502020204030204" pitchFamily="34" charset="0"/>
                <a:cs typeface="Calibri" panose="020F0502020204030204" pitchFamily="34" charset="0"/>
              </a:rPr>
              <a:t> validation</a:t>
            </a:r>
            <a:br>
              <a:rPr lang="en-IN" dirty="0">
                <a:latin typeface="Calibri" panose="020F0502020204030204" pitchFamily="34" charset="0"/>
                <a:ea typeface="Calibri" panose="020F0502020204030204" pitchFamily="34" charset="0"/>
                <a:cs typeface="Calibri" panose="020F0502020204030204" pitchFamily="34" charset="0"/>
              </a:rPr>
            </a:br>
            <a:r>
              <a:rPr lang="en-IN" dirty="0">
                <a:latin typeface="Calibri" panose="020F0502020204030204" pitchFamily="34" charset="0"/>
                <a:ea typeface="Calibri" panose="020F0502020204030204" pitchFamily="34" charset="0"/>
                <a:cs typeface="Calibri" panose="020F0502020204030204" pitchFamily="34" charset="0"/>
              </a:rPr>
              <a:t>Graph noise → Skeleton </a:t>
            </a:r>
            <a:r>
              <a:rPr lang="en-IN" dirty="0" err="1">
                <a:latin typeface="Calibri" panose="020F0502020204030204" pitchFamily="34" charset="0"/>
                <a:ea typeface="Calibri" panose="020F0502020204030204" pitchFamily="34" charset="0"/>
                <a:cs typeface="Calibri" panose="020F0502020204030204" pitchFamily="34" charset="0"/>
              </a:rPr>
              <a:t>cleanup</a:t>
            </a:r>
            <a:br>
              <a:rPr lang="en-IN" dirty="0">
                <a:latin typeface="Calibri" panose="020F0502020204030204" pitchFamily="34" charset="0"/>
                <a:ea typeface="Calibri" panose="020F0502020204030204" pitchFamily="34" charset="0"/>
                <a:cs typeface="Calibri" panose="020F0502020204030204" pitchFamily="34" charset="0"/>
              </a:rPr>
            </a:br>
            <a:r>
              <a:rPr lang="en-IN" dirty="0">
                <a:latin typeface="Calibri" panose="020F0502020204030204" pitchFamily="34" charset="0"/>
                <a:ea typeface="Calibri" panose="020F0502020204030204" pitchFamily="34" charset="0"/>
                <a:cs typeface="Calibri" panose="020F0502020204030204" pitchFamily="34" charset="0"/>
              </a:rPr>
              <a:t>No GAT improvement → Ablation study</a:t>
            </a:r>
          </a:p>
          <a:p>
            <a:pPr marL="0" marR="0" lvl="0" indent="0" algn="l" rtl="0">
              <a:lnSpc>
                <a:spcPct val="100000"/>
              </a:lnSpc>
              <a:spcBef>
                <a:spcPts val="0"/>
              </a:spcBef>
              <a:spcAft>
                <a:spcPts val="0"/>
              </a:spcAft>
              <a:buClr>
                <a:schemeClr val="accent1"/>
              </a:buClr>
              <a:buSzPts val="1800"/>
              <a:buNone/>
            </a:pPr>
            <a:endParaRPr dirty="0"/>
          </a:p>
          <a:p>
            <a:pPr marL="342900" marR="0" lvl="0" indent="-228600" algn="l" rtl="0">
              <a:lnSpc>
                <a:spcPct val="100000"/>
              </a:lnSpc>
              <a:spcBef>
                <a:spcPts val="1000"/>
              </a:spcBef>
              <a:spcAft>
                <a:spcPts val="0"/>
              </a:spcAft>
              <a:buClr>
                <a:schemeClr val="accent1"/>
              </a:buClr>
              <a:buSzPts val="1800"/>
              <a:buFont typeface="Noto Sans Symbols"/>
              <a:buNone/>
            </a:pPr>
            <a:endParaRPr sz="1800" b="0" i="0" u="none" dirty="0">
              <a:solidFill>
                <a:srgbClr val="404040"/>
              </a:solidFill>
              <a:latin typeface="Calibri"/>
              <a:ea typeface="Calibri"/>
              <a:cs typeface="Calibri"/>
              <a:sym typeface="Calibri"/>
            </a:endParaRPr>
          </a:p>
          <a:p>
            <a:pPr marL="342900" marR="0" lvl="0" indent="-228600" algn="l" rtl="0">
              <a:spcBef>
                <a:spcPts val="1000"/>
              </a:spcBef>
              <a:spcAft>
                <a:spcPts val="0"/>
              </a:spcAft>
              <a:buClr>
                <a:schemeClr val="accent1"/>
              </a:buClr>
              <a:buSzPts val="1800"/>
              <a:buFont typeface="Noto Sans Symbols"/>
              <a:buNone/>
            </a:pPr>
            <a:endParaRPr sz="1800" b="0" i="0" u="none" dirty="0">
              <a:solidFill>
                <a:srgbClr val="404040"/>
              </a:solidFill>
              <a:latin typeface="Calibri"/>
              <a:ea typeface="Calibri"/>
              <a:cs typeface="Calibri"/>
              <a:sym typeface="Calibri"/>
            </a:endParaRPr>
          </a:p>
        </p:txBody>
      </p:sp>
      <p:sp>
        <p:nvSpPr>
          <p:cNvPr id="748" name="Google Shape;748;p40"/>
          <p:cNvSpPr txBox="1"/>
          <p:nvPr/>
        </p:nvSpPr>
        <p:spPr>
          <a:xfrm>
            <a:off x="1657350" y="6091237"/>
            <a:ext cx="10668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a:t>
            </a:r>
            <a:endParaRPr/>
          </a:p>
        </p:txBody>
      </p:sp>
      <p:sp>
        <p:nvSpPr>
          <p:cNvPr id="749" name="Google Shape;749;p40"/>
          <p:cNvSpPr txBox="1"/>
          <p:nvPr/>
        </p:nvSpPr>
        <p:spPr>
          <a:xfrm>
            <a:off x="2724150" y="6091237"/>
            <a:ext cx="48768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Dept of CSE., SOE-Dayananda Sagar University</a:t>
            </a:r>
            <a:endParaRPr/>
          </a:p>
        </p:txBody>
      </p:sp>
      <p:sp>
        <p:nvSpPr>
          <p:cNvPr id="751" name="Google Shape;751;p40"/>
          <p:cNvSpPr txBox="1"/>
          <p:nvPr/>
        </p:nvSpPr>
        <p:spPr>
          <a:xfrm>
            <a:off x="7948612" y="6140450"/>
            <a:ext cx="776287"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fld id="{00000000-1234-1234-1234-123412341234}" type="slidenum">
              <a:rPr lang="en-US" sz="900" b="0" i="0" u="none" dirty="0">
                <a:solidFill>
                  <a:srgbClr val="898989"/>
                </a:solidFill>
                <a:latin typeface="Century Gothic"/>
                <a:ea typeface="Century Gothic"/>
                <a:cs typeface="Century Gothic"/>
                <a:sym typeface="Century Gothic"/>
              </a:rPr>
              <a:t>16</a:t>
            </a:fld>
            <a:r>
              <a:rPr lang="en-US" sz="900" b="0" i="0" u="none">
                <a:solidFill>
                  <a:srgbClr val="898989"/>
                </a:solidFill>
                <a:latin typeface="Century Gothic"/>
                <a:ea typeface="Century Gothic"/>
                <a:cs typeface="Century Gothic"/>
                <a:sym typeface="Century Gothic"/>
              </a:rPr>
              <a:t> of </a:t>
            </a:r>
            <a:r>
              <a:rPr lang="en-US" sz="900">
                <a:solidFill>
                  <a:srgbClr val="898989"/>
                </a:solidFill>
                <a:latin typeface="Century Gothic"/>
                <a:ea typeface="Century Gothic"/>
                <a:cs typeface="Century Gothic"/>
                <a:sym typeface="Century Gothic"/>
              </a:rPr>
              <a:t>18</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p44"/>
          <p:cNvSpPr txBox="1">
            <a:spLocks noGrp="1"/>
          </p:cNvSpPr>
          <p:nvPr>
            <p:ph type="title"/>
          </p:nvPr>
        </p:nvSpPr>
        <p:spPr>
          <a:xfrm>
            <a:off x="1676400" y="573087"/>
            <a:ext cx="6589712" cy="747712"/>
          </a:xfrm>
          <a:prstGeom prst="rect">
            <a:avLst/>
          </a:prstGeom>
          <a:noFill/>
          <a:ln>
            <a:noFill/>
          </a:ln>
        </p:spPr>
        <p:txBody>
          <a:bodyPr spcFirstLastPara="1" wrap="square" lIns="91425" tIns="45700" rIns="91425" bIns="45700" anchor="t" anchorCtr="0">
            <a:noAutofit/>
          </a:bodyPr>
          <a:lstStyle/>
          <a:p>
            <a:pPr lvl="0">
              <a:buClr>
                <a:srgbClr val="1581AA"/>
              </a:buClr>
              <a:buSzPts val="3600"/>
            </a:pPr>
            <a:r>
              <a:rPr lang="en-US" dirty="0"/>
              <a:t>References</a:t>
            </a:r>
            <a:endParaRPr dirty="0"/>
          </a:p>
        </p:txBody>
      </p:sp>
      <p:sp>
        <p:nvSpPr>
          <p:cNvPr id="787" name="Google Shape;787;p44"/>
          <p:cNvSpPr txBox="1"/>
          <p:nvPr/>
        </p:nvSpPr>
        <p:spPr>
          <a:xfrm>
            <a:off x="7948612" y="6140450"/>
            <a:ext cx="776287"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fld id="{00000000-1234-1234-1234-123412341234}" type="slidenum">
              <a:rPr lang="en-US" sz="900" b="0" i="0" u="none" dirty="0">
                <a:solidFill>
                  <a:srgbClr val="898989"/>
                </a:solidFill>
                <a:latin typeface="Century Gothic"/>
                <a:ea typeface="Century Gothic"/>
                <a:cs typeface="Century Gothic"/>
                <a:sym typeface="Century Gothic"/>
              </a:rPr>
              <a:t>17</a:t>
            </a:fld>
            <a:r>
              <a:rPr lang="en-US" sz="900" b="0" i="0" u="none">
                <a:solidFill>
                  <a:srgbClr val="898989"/>
                </a:solidFill>
                <a:latin typeface="Century Gothic"/>
                <a:ea typeface="Century Gothic"/>
                <a:cs typeface="Century Gothic"/>
                <a:sym typeface="Century Gothic"/>
              </a:rPr>
              <a:t> of </a:t>
            </a:r>
            <a:r>
              <a:rPr lang="en-US" sz="900">
                <a:solidFill>
                  <a:srgbClr val="898989"/>
                </a:solidFill>
                <a:latin typeface="Century Gothic"/>
                <a:ea typeface="Century Gothic"/>
                <a:cs typeface="Century Gothic"/>
                <a:sym typeface="Century Gothic"/>
              </a:rPr>
              <a:t>18</a:t>
            </a:r>
            <a:endParaRPr/>
          </a:p>
        </p:txBody>
      </p:sp>
      <p:sp>
        <p:nvSpPr>
          <p:cNvPr id="788" name="Google Shape;788;p44"/>
          <p:cNvSpPr txBox="1"/>
          <p:nvPr/>
        </p:nvSpPr>
        <p:spPr>
          <a:xfrm>
            <a:off x="1943100" y="6156325"/>
            <a:ext cx="876300" cy="36988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a:t>
            </a:r>
            <a:endParaRPr/>
          </a:p>
        </p:txBody>
      </p:sp>
      <p:sp>
        <p:nvSpPr>
          <p:cNvPr id="789" name="Google Shape;789;p44"/>
          <p:cNvSpPr txBox="1"/>
          <p:nvPr/>
        </p:nvSpPr>
        <p:spPr>
          <a:xfrm>
            <a:off x="2819400" y="6156325"/>
            <a:ext cx="5716587"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Century Gothic"/>
              <a:buNone/>
            </a:pPr>
            <a:r>
              <a:rPr lang="en-US" sz="900" b="0" i="0" u="none">
                <a:solidFill>
                  <a:srgbClr val="898989"/>
                </a:solidFill>
                <a:latin typeface="Century Gothic"/>
                <a:ea typeface="Century Gothic"/>
                <a:cs typeface="Century Gothic"/>
                <a:sym typeface="Century Gothic"/>
              </a:rPr>
              <a:t>Dept of CSE., SOE-Dayananda Sagar University</a:t>
            </a:r>
            <a:endParaRPr/>
          </a:p>
        </p:txBody>
      </p:sp>
      <p:sp>
        <p:nvSpPr>
          <p:cNvPr id="4" name="TextBox 3">
            <a:extLst>
              <a:ext uri="{FF2B5EF4-FFF2-40B4-BE49-F238E27FC236}">
                <a16:creationId xmlns:a16="http://schemas.microsoft.com/office/drawing/2014/main" id="{28E5D3DB-F5C8-9A6A-92AD-708D6AF295EF}"/>
              </a:ext>
            </a:extLst>
          </p:cNvPr>
          <p:cNvSpPr txBox="1"/>
          <p:nvPr/>
        </p:nvSpPr>
        <p:spPr>
          <a:xfrm>
            <a:off x="671286" y="1487713"/>
            <a:ext cx="8019142" cy="47397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US" sz="1800" b="1">
                <a:latin typeface="Calibri"/>
                <a:ea typeface="Calibri"/>
                <a:cs typeface="Calibri"/>
              </a:rPr>
              <a:t>Y. Zafar, A. Javed, K. M. Malik, J. Santamaria, G. Malik</a:t>
            </a:r>
            <a:r>
              <a:rPr lang="en-US" sz="1800">
                <a:latin typeface="Calibri"/>
                <a:ea typeface="Calibri"/>
                <a:cs typeface="Calibri"/>
              </a:rPr>
              <a:t> — </a:t>
            </a:r>
            <a:r>
              <a:rPr lang="en-US" sz="1800" i="1">
                <a:latin typeface="Calibri"/>
                <a:ea typeface="Calibri"/>
                <a:cs typeface="Calibri"/>
              </a:rPr>
              <a:t>A Diagnostic System for Intracranial Saccular and Fusiform Aneurysms with Location Detection</a:t>
            </a:r>
            <a:r>
              <a:rPr lang="en-US" sz="1800">
                <a:latin typeface="Calibri"/>
                <a:ea typeface="Calibri"/>
                <a:cs typeface="Calibri"/>
              </a:rPr>
              <a:t> — </a:t>
            </a:r>
            <a:r>
              <a:rPr lang="en-US" sz="1800" b="1">
                <a:latin typeface="Calibri"/>
                <a:ea typeface="Calibri"/>
                <a:cs typeface="Calibri"/>
              </a:rPr>
              <a:t>2020</a:t>
            </a:r>
            <a:r>
              <a:rPr lang="en-US" sz="1800" dirty="0">
                <a:latin typeface="Calibri"/>
                <a:ea typeface="Calibri"/>
                <a:cs typeface="Calibri"/>
              </a:rPr>
              <a:t> </a:t>
            </a:r>
          </a:p>
          <a:p>
            <a:pPr marL="285750" indent="-285750">
              <a:buChar char="•"/>
            </a:pPr>
            <a:r>
              <a:rPr lang="en-US" sz="1800" b="1" dirty="0">
                <a:latin typeface="Calibri"/>
                <a:ea typeface="Calibri"/>
                <a:cs typeface="Calibri"/>
              </a:rPr>
              <a:t>S. C. Pal, D. </a:t>
            </a:r>
            <a:r>
              <a:rPr lang="en-US" sz="1800" b="1" dirty="0" err="1">
                <a:latin typeface="Calibri"/>
                <a:ea typeface="Calibri"/>
                <a:cs typeface="Calibri"/>
              </a:rPr>
              <a:t>Toumpanakis</a:t>
            </a:r>
            <a:r>
              <a:rPr lang="en-US" sz="1800" b="1" dirty="0">
                <a:latin typeface="Calibri"/>
                <a:ea typeface="Calibri"/>
                <a:cs typeface="Calibri"/>
              </a:rPr>
              <a:t>, J. Wikström, C. K. Ahuja, R. Strand, A. K. Dhara</a:t>
            </a:r>
            <a:r>
              <a:rPr lang="en-US" sz="1800" dirty="0">
                <a:latin typeface="Calibri"/>
                <a:ea typeface="Calibri"/>
                <a:cs typeface="Calibri"/>
              </a:rPr>
              <a:t> — </a:t>
            </a:r>
            <a:r>
              <a:rPr lang="en-US" sz="1800" i="1" dirty="0">
                <a:latin typeface="Calibri"/>
                <a:ea typeface="Calibri"/>
                <a:cs typeface="Calibri"/>
              </a:rPr>
              <a:t>Automated Segmentation of Post-Treatment Intracranial Aneurysms from MRA Images: A U-Net based Approach</a:t>
            </a:r>
            <a:r>
              <a:rPr lang="en-US" sz="1800" dirty="0">
                <a:latin typeface="Calibri"/>
                <a:ea typeface="Calibri"/>
                <a:cs typeface="Calibri"/>
              </a:rPr>
              <a:t> — </a:t>
            </a:r>
            <a:r>
              <a:rPr lang="en-US" sz="1800" b="1" dirty="0">
                <a:latin typeface="Calibri"/>
                <a:ea typeface="Calibri"/>
                <a:cs typeface="Calibri"/>
              </a:rPr>
              <a:t>2024, INDICON</a:t>
            </a:r>
            <a:r>
              <a:rPr lang="en-US" sz="1800" dirty="0">
                <a:latin typeface="Calibri"/>
                <a:ea typeface="Calibri"/>
                <a:cs typeface="Calibri"/>
              </a:rPr>
              <a:t> </a:t>
            </a:r>
          </a:p>
          <a:p>
            <a:pPr marL="285750" indent="-285750">
              <a:buChar char="•"/>
            </a:pPr>
            <a:r>
              <a:rPr lang="en-US" sz="1800" b="1" dirty="0">
                <a:latin typeface="Calibri"/>
                <a:ea typeface="Calibri"/>
                <a:cs typeface="Calibri"/>
              </a:rPr>
              <a:t>J. Ahmad, K. Malik, F. Ullah, K. Ahmad, M. Khan, G. Malik</a:t>
            </a:r>
            <a:r>
              <a:rPr lang="en-US" sz="1800" dirty="0">
                <a:latin typeface="Calibri"/>
                <a:ea typeface="Calibri"/>
                <a:cs typeface="Calibri"/>
              </a:rPr>
              <a:t> — </a:t>
            </a:r>
            <a:r>
              <a:rPr lang="en-US" sz="1800" i="1" dirty="0">
                <a:latin typeface="Calibri"/>
                <a:ea typeface="Calibri"/>
                <a:cs typeface="Calibri"/>
              </a:rPr>
              <a:t>Context-Aware Detection and Grading of Intracranial Aneurysms in DSA Images</a:t>
            </a:r>
            <a:r>
              <a:rPr lang="en-US" sz="1800" dirty="0">
                <a:latin typeface="Calibri"/>
                <a:ea typeface="Calibri"/>
                <a:cs typeface="Calibri"/>
              </a:rPr>
              <a:t> — </a:t>
            </a:r>
            <a:r>
              <a:rPr lang="en-US" sz="1800" b="1" dirty="0">
                <a:latin typeface="Calibri"/>
                <a:ea typeface="Calibri"/>
                <a:cs typeface="Calibri"/>
              </a:rPr>
              <a:t>2025, </a:t>
            </a:r>
            <a:r>
              <a:rPr lang="en-US" sz="1800" b="1" dirty="0" err="1">
                <a:latin typeface="Calibri"/>
                <a:ea typeface="Calibri"/>
                <a:cs typeface="Calibri"/>
              </a:rPr>
              <a:t>ComComAp</a:t>
            </a:r>
            <a:r>
              <a:rPr lang="en-US" sz="1800" dirty="0">
                <a:latin typeface="Calibri"/>
                <a:ea typeface="Calibri"/>
                <a:cs typeface="Calibri"/>
              </a:rPr>
              <a:t> </a:t>
            </a:r>
          </a:p>
          <a:p>
            <a:pPr marL="285750" indent="-285750">
              <a:buChar char="•"/>
            </a:pPr>
            <a:r>
              <a:rPr lang="en-US" sz="1800" b="1">
                <a:latin typeface="Calibri"/>
                <a:ea typeface="Calibri"/>
                <a:cs typeface="Calibri"/>
              </a:rPr>
              <a:t>W. Lin, M. Gao, C. Ruan, J. Zhong</a:t>
            </a:r>
            <a:r>
              <a:rPr lang="en-US" sz="1800">
                <a:latin typeface="Calibri"/>
                <a:ea typeface="Calibri"/>
                <a:cs typeface="Calibri"/>
              </a:rPr>
              <a:t> — </a:t>
            </a:r>
            <a:r>
              <a:rPr lang="en-US" sz="1800" i="1">
                <a:latin typeface="Calibri"/>
                <a:ea typeface="Calibri"/>
                <a:cs typeface="Calibri"/>
              </a:rPr>
              <a:t>Denoising for Intracranial Hemorrhage Images Using Autoencoder Based on CNN</a:t>
            </a:r>
            <a:r>
              <a:rPr lang="en-US" sz="1800">
                <a:latin typeface="Calibri"/>
                <a:ea typeface="Calibri"/>
                <a:cs typeface="Calibri"/>
              </a:rPr>
              <a:t> — </a:t>
            </a:r>
            <a:r>
              <a:rPr lang="en-US" sz="1800" b="1">
                <a:latin typeface="Calibri"/>
                <a:ea typeface="Calibri"/>
                <a:cs typeface="Calibri"/>
              </a:rPr>
              <a:t>2021, CEI</a:t>
            </a:r>
            <a:r>
              <a:rPr lang="en-US" sz="1800" dirty="0">
                <a:latin typeface="Calibri"/>
                <a:ea typeface="Calibri"/>
                <a:cs typeface="Calibri"/>
              </a:rPr>
              <a:t> </a:t>
            </a:r>
          </a:p>
          <a:p>
            <a:pPr marL="285750" indent="-285750">
              <a:buChar char="•"/>
            </a:pPr>
            <a:r>
              <a:rPr lang="en-US" sz="1800" b="1">
                <a:latin typeface="Calibri"/>
                <a:ea typeface="Calibri"/>
                <a:cs typeface="Calibri"/>
              </a:rPr>
              <a:t>R. Ma, S. Tu, P. Li, J. Zhou, B. Zhao, J. Wan, L. Xu</a:t>
            </a:r>
            <a:r>
              <a:rPr lang="en-US" sz="1800">
                <a:latin typeface="Calibri"/>
                <a:ea typeface="Calibri"/>
                <a:cs typeface="Calibri"/>
              </a:rPr>
              <a:t> — </a:t>
            </a:r>
            <a:r>
              <a:rPr lang="en-US" sz="1800" i="1">
                <a:latin typeface="Calibri"/>
                <a:ea typeface="Calibri"/>
                <a:cs typeface="Calibri"/>
              </a:rPr>
              <a:t>Enriching Computed Tomography Images by Projection for Robust Automated Cerebral Aneurysm Detection and Segmentation</a:t>
            </a:r>
            <a:r>
              <a:rPr lang="en-US" sz="1800">
                <a:latin typeface="Calibri"/>
                <a:ea typeface="Calibri"/>
                <a:cs typeface="Calibri"/>
              </a:rPr>
              <a:t> — </a:t>
            </a:r>
            <a:r>
              <a:rPr lang="en-US" sz="1800" b="1">
                <a:latin typeface="Calibri"/>
                <a:ea typeface="Calibri"/>
                <a:cs typeface="Calibri"/>
              </a:rPr>
              <a:t>2021, BIBM</a:t>
            </a:r>
          </a:p>
          <a:p>
            <a:pPr marL="285750" indent="-285750">
              <a:buChar char="•"/>
            </a:pPr>
            <a:r>
              <a:rPr lang="en-US" sz="1800" b="1">
                <a:latin typeface="Calibri"/>
                <a:ea typeface="Calibri"/>
                <a:cs typeface="Calibri"/>
              </a:rPr>
              <a:t>Y. Gao, H. Zheng, Y. Yue, H. Yao</a:t>
            </a:r>
            <a:r>
              <a:rPr lang="en-US" sz="1800">
                <a:latin typeface="Calibri"/>
                <a:ea typeface="Calibri"/>
                <a:cs typeface="Calibri"/>
              </a:rPr>
              <a:t> — </a:t>
            </a:r>
            <a:r>
              <a:rPr lang="en-US" sz="1800" i="1">
                <a:latin typeface="Calibri"/>
                <a:ea typeface="Calibri"/>
                <a:cs typeface="Calibri"/>
              </a:rPr>
              <a:t>GLUT-Net: Trans-based Segmentation Network for Intracranial Aneurysms in 3D CTA</a:t>
            </a:r>
            <a:r>
              <a:rPr lang="en-US" sz="1800">
                <a:latin typeface="Calibri"/>
                <a:ea typeface="Calibri"/>
                <a:cs typeface="Calibri"/>
              </a:rPr>
              <a:t> — </a:t>
            </a:r>
            <a:r>
              <a:rPr lang="en-US" sz="1800" b="1">
                <a:latin typeface="Calibri"/>
                <a:ea typeface="Calibri"/>
                <a:cs typeface="Calibri"/>
              </a:rPr>
              <a:t>2022, CME</a:t>
            </a:r>
            <a:endParaRPr lang="en-US" sz="1800">
              <a:latin typeface="Calibri"/>
              <a:ea typeface="Calibri"/>
              <a:cs typeface="Calibri"/>
            </a:endParaRP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B0F64C0-E226-E0ED-B189-17A96C6DB5D1}"/>
              </a:ext>
            </a:extLst>
          </p:cNvPr>
          <p:cNvSpPr>
            <a:spLocks noGrp="1"/>
          </p:cNvSpPr>
          <p:nvPr>
            <p:ph type="sldNum" idx="12"/>
          </p:nvPr>
        </p:nvSpPr>
        <p:spPr/>
        <p:txBody>
          <a:bodyPr/>
          <a:lstStyle/>
          <a:p>
            <a:pPr marL="0" lvl="0" indent="0" algn="ctr" rtl="0">
              <a:spcBef>
                <a:spcPts val="0"/>
              </a:spcBef>
              <a:spcAft>
                <a:spcPts val="0"/>
              </a:spcAft>
              <a:buNone/>
            </a:pPr>
            <a:r>
              <a:rPr lang="en-US"/>
              <a:t>18  of 18</a:t>
            </a:r>
          </a:p>
        </p:txBody>
      </p:sp>
      <p:sp>
        <p:nvSpPr>
          <p:cNvPr id="5" name="TextBox 4">
            <a:extLst>
              <a:ext uri="{FF2B5EF4-FFF2-40B4-BE49-F238E27FC236}">
                <a16:creationId xmlns:a16="http://schemas.microsoft.com/office/drawing/2014/main" id="{04908A67-4181-2D47-F7AC-536AEBD9C993}"/>
              </a:ext>
            </a:extLst>
          </p:cNvPr>
          <p:cNvSpPr txBox="1"/>
          <p:nvPr/>
        </p:nvSpPr>
        <p:spPr>
          <a:xfrm>
            <a:off x="1378856" y="1288143"/>
            <a:ext cx="7184571" cy="47397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US" sz="1800" b="1" dirty="0">
                <a:latin typeface="Calibri"/>
                <a:ea typeface="Calibri"/>
                <a:cs typeface="Calibri"/>
              </a:rPr>
              <a:t>L. </a:t>
            </a:r>
            <a:r>
              <a:rPr lang="en-US" sz="1800" b="1" dirty="0" err="1">
                <a:latin typeface="Calibri"/>
                <a:ea typeface="Calibri"/>
                <a:cs typeface="Calibri"/>
              </a:rPr>
              <a:t>Theelke</a:t>
            </a:r>
            <a:r>
              <a:rPr lang="en-US" sz="1800" b="1" dirty="0">
                <a:latin typeface="Calibri"/>
                <a:ea typeface="Calibri"/>
                <a:cs typeface="Calibri"/>
              </a:rPr>
              <a:t>, F. Wilm, C. Marzahl, C. A. Bertram, R. Klopfleisch, A. Maier, M. Aubreville, K. Breininger</a:t>
            </a:r>
            <a:r>
              <a:rPr lang="en-US" sz="1800" dirty="0">
                <a:latin typeface="Calibri"/>
                <a:ea typeface="Calibri"/>
                <a:cs typeface="Calibri"/>
              </a:rPr>
              <a:t> — </a:t>
            </a:r>
            <a:r>
              <a:rPr lang="en-US" sz="1800" i="1" dirty="0">
                <a:latin typeface="Calibri"/>
                <a:ea typeface="Calibri"/>
                <a:cs typeface="Calibri"/>
              </a:rPr>
              <a:t>Iterative Cross-Scanner Registration for Whole Slide Images</a:t>
            </a:r>
            <a:r>
              <a:rPr lang="en-US" sz="1800" dirty="0">
                <a:latin typeface="Calibri"/>
                <a:ea typeface="Calibri"/>
                <a:cs typeface="Calibri"/>
              </a:rPr>
              <a:t> — </a:t>
            </a:r>
            <a:r>
              <a:rPr lang="en-US" sz="1800" b="1" dirty="0">
                <a:latin typeface="Calibri"/>
                <a:ea typeface="Calibri"/>
                <a:cs typeface="Calibri"/>
              </a:rPr>
              <a:t>2021, ICCVW</a:t>
            </a:r>
            <a:r>
              <a:rPr lang="en-US" sz="1800" dirty="0">
                <a:latin typeface="Calibri"/>
                <a:ea typeface="Calibri"/>
                <a:cs typeface="Calibri"/>
              </a:rPr>
              <a:t> </a:t>
            </a:r>
          </a:p>
          <a:p>
            <a:pPr marL="285750" indent="-285750">
              <a:buChar char="•"/>
            </a:pPr>
            <a:r>
              <a:rPr lang="en-US" sz="1800" b="1" dirty="0">
                <a:latin typeface="Calibri"/>
                <a:ea typeface="Calibri"/>
                <a:cs typeface="Calibri"/>
              </a:rPr>
              <a:t>A. H. Nguyen, F. F. Ting, B. Q. Vuong, C.-M. Ting</a:t>
            </a:r>
            <a:r>
              <a:rPr lang="en-US" sz="1800" dirty="0">
                <a:latin typeface="Calibri"/>
                <a:ea typeface="Calibri"/>
                <a:cs typeface="Calibri"/>
              </a:rPr>
              <a:t> — </a:t>
            </a:r>
            <a:r>
              <a:rPr lang="en-US" sz="1800" i="1" dirty="0" err="1">
                <a:latin typeface="Calibri"/>
                <a:ea typeface="Calibri"/>
                <a:cs typeface="Calibri"/>
              </a:rPr>
              <a:t>MiTRes-UNet</a:t>
            </a:r>
            <a:r>
              <a:rPr lang="en-US" sz="1800" i="1" dirty="0">
                <a:latin typeface="Calibri"/>
                <a:ea typeface="Calibri"/>
                <a:cs typeface="Calibri"/>
              </a:rPr>
              <a:t>: A Hybrid Encoder Framework with Evolutionary Feature Selection for Intracranial Aneurysm Detection</a:t>
            </a:r>
            <a:r>
              <a:rPr lang="en-US" sz="1800" dirty="0">
                <a:latin typeface="Calibri"/>
                <a:ea typeface="Calibri"/>
                <a:cs typeface="Calibri"/>
              </a:rPr>
              <a:t> — </a:t>
            </a:r>
            <a:r>
              <a:rPr lang="en-US" sz="1800" b="1" dirty="0">
                <a:latin typeface="Calibri"/>
                <a:ea typeface="Calibri"/>
                <a:cs typeface="Calibri"/>
              </a:rPr>
              <a:t>2026, ISBI</a:t>
            </a:r>
            <a:r>
              <a:rPr lang="en-US" sz="1800" dirty="0">
                <a:latin typeface="Calibri"/>
                <a:ea typeface="Calibri"/>
                <a:cs typeface="Calibri"/>
              </a:rPr>
              <a:t> </a:t>
            </a:r>
          </a:p>
          <a:p>
            <a:pPr marL="285750" indent="-285750">
              <a:buChar char="•"/>
            </a:pPr>
            <a:r>
              <a:rPr lang="en-US" sz="1800" b="1">
                <a:latin typeface="Calibri"/>
                <a:ea typeface="Calibri"/>
                <a:cs typeface="Calibri"/>
              </a:rPr>
              <a:t>Authors not clearly available in the uploaded paper</a:t>
            </a:r>
            <a:r>
              <a:rPr lang="en-US" sz="1800">
                <a:latin typeface="Calibri"/>
                <a:ea typeface="Calibri"/>
                <a:cs typeface="Calibri"/>
              </a:rPr>
              <a:t> — </a:t>
            </a:r>
            <a:r>
              <a:rPr lang="en-US" sz="1800" i="1">
                <a:latin typeface="Calibri"/>
                <a:ea typeface="Calibri"/>
                <a:cs typeface="Calibri"/>
              </a:rPr>
              <a:t>Multiple Angle Key Points Detection Guided Screening of Unruptured Intracranial Aneurysms</a:t>
            </a:r>
            <a:r>
              <a:rPr lang="en-US" sz="1800">
                <a:latin typeface="Calibri"/>
                <a:ea typeface="Calibri"/>
                <a:cs typeface="Calibri"/>
              </a:rPr>
              <a:t> — </a:t>
            </a:r>
            <a:r>
              <a:rPr lang="en-US" sz="1800" b="1">
                <a:latin typeface="Calibri"/>
                <a:ea typeface="Calibri"/>
                <a:cs typeface="Calibri"/>
              </a:rPr>
              <a:t>Year/conference not clearly available</a:t>
            </a:r>
            <a:r>
              <a:rPr lang="en-US" sz="1800" dirty="0">
                <a:latin typeface="Calibri"/>
                <a:ea typeface="Calibri"/>
                <a:cs typeface="Calibri"/>
              </a:rPr>
              <a:t> </a:t>
            </a:r>
          </a:p>
          <a:p>
            <a:pPr marL="285750" indent="-285750">
              <a:buChar char="•"/>
            </a:pPr>
            <a:r>
              <a:rPr lang="en-US" sz="1800" b="1">
                <a:latin typeface="Calibri"/>
                <a:ea typeface="Calibri"/>
                <a:cs typeface="Calibri"/>
              </a:rPr>
              <a:t>W. Li, Z. Qu, S. Zhang, H. Yuan, Y. Li, H. Ge</a:t>
            </a:r>
            <a:r>
              <a:rPr lang="en-US" sz="1800">
                <a:latin typeface="Calibri"/>
                <a:ea typeface="Calibri"/>
                <a:cs typeface="Calibri"/>
              </a:rPr>
              <a:t> — </a:t>
            </a:r>
            <a:r>
              <a:rPr lang="en-US" sz="1800" i="1">
                <a:latin typeface="Calibri"/>
                <a:ea typeface="Calibri"/>
                <a:cs typeface="Calibri"/>
              </a:rPr>
              <a:t>Study on the Performance of Microcatheter Commonly Used in Nerve Endovascular Treatment</a:t>
            </a:r>
            <a:r>
              <a:rPr lang="en-US" sz="1800">
                <a:latin typeface="Calibri"/>
                <a:ea typeface="Calibri"/>
                <a:cs typeface="Calibri"/>
              </a:rPr>
              <a:t> — </a:t>
            </a:r>
            <a:r>
              <a:rPr lang="en-US" sz="1800" b="1">
                <a:latin typeface="Calibri"/>
                <a:ea typeface="Calibri"/>
                <a:cs typeface="Calibri"/>
              </a:rPr>
              <a:t>2021, ICCEAI</a:t>
            </a:r>
            <a:endParaRPr lang="en-US" sz="1800" dirty="0">
              <a:latin typeface="Calibri"/>
              <a:ea typeface="Calibri"/>
              <a:cs typeface="Calibri"/>
            </a:endParaRPr>
          </a:p>
          <a:p>
            <a:pPr algn="l"/>
            <a:endParaRPr lang="en-US" sz="1800" b="1" dirty="0">
              <a:latin typeface="Calibri"/>
              <a:ea typeface="Calibri"/>
              <a:cs typeface="Calibri"/>
            </a:endParaRPr>
          </a:p>
          <a:p>
            <a:r>
              <a:rPr lang="en-US" sz="1800" dirty="0">
                <a:latin typeface="Calibri"/>
                <a:ea typeface="Calibri"/>
                <a:cs typeface="Calibri"/>
              </a:rPr>
              <a:t>Dataset:- R. Su et al., “</a:t>
            </a:r>
            <a:r>
              <a:rPr lang="en-US" sz="1800" b="1" dirty="0" err="1">
                <a:latin typeface="Calibri"/>
                <a:ea typeface="Calibri"/>
                <a:cs typeface="Calibri"/>
              </a:rPr>
              <a:t>TopAneu</a:t>
            </a:r>
            <a:r>
              <a:rPr lang="en-US" sz="1800" b="1" dirty="0">
                <a:latin typeface="Calibri"/>
                <a:ea typeface="Calibri"/>
                <a:cs typeface="Calibri"/>
              </a:rPr>
              <a:t> 2026</a:t>
            </a:r>
            <a:r>
              <a:rPr lang="en-US" sz="1800" dirty="0">
                <a:latin typeface="Calibri"/>
                <a:ea typeface="Calibri"/>
                <a:cs typeface="Calibri"/>
              </a:rPr>
              <a:t>: Multimodal Vessel-Specific Intracranial Aneurysm Classification and Segmentation Challenge,” </a:t>
            </a:r>
            <a:r>
              <a:rPr lang="en-US" sz="1800" dirty="0" err="1">
                <a:latin typeface="Calibri"/>
                <a:ea typeface="Calibri"/>
                <a:cs typeface="Calibri"/>
              </a:rPr>
              <a:t>Zenodo</a:t>
            </a:r>
            <a:r>
              <a:rPr lang="en-US" sz="1800" dirty="0">
                <a:latin typeface="Calibri"/>
                <a:ea typeface="Calibri"/>
                <a:cs typeface="Calibri"/>
              </a:rPr>
              <a:t>, 2026.</a:t>
            </a:r>
          </a:p>
          <a:p>
            <a:endParaRPr lang="en-US" dirty="0"/>
          </a:p>
        </p:txBody>
      </p:sp>
    </p:spTree>
    <p:extLst>
      <p:ext uri="{BB962C8B-B14F-4D97-AF65-F5344CB8AC3E}">
        <p14:creationId xmlns:p14="http://schemas.microsoft.com/office/powerpoint/2010/main" val="2556660830"/>
      </p:ext>
    </p:extLst>
  </p:cSld>
  <p:clrMapOvr>
    <a:masterClrMapping/>
  </p:clrMapOvr>
</p:sld>
</file>

<file path=ppt/theme/theme1.xml><?xml version="1.0" encoding="utf-8"?>
<a:theme xmlns:a="http://schemas.openxmlformats.org/drawingml/2006/main" name="1_Wisp">
  <a:themeElements>
    <a:clrScheme name="Wisp">
      <a:dk1>
        <a:srgbClr val="000000"/>
      </a:dk1>
      <a:lt1>
        <a:srgbClr val="FFFFFF"/>
      </a:lt1>
      <a:dk2>
        <a:srgbClr val="2E5369"/>
      </a:dk2>
      <a:lt2>
        <a:srgbClr val="CFE2E7"/>
      </a:lt2>
      <a:accent1>
        <a:srgbClr val="353535"/>
      </a:accent1>
      <a:accent2>
        <a:srgbClr val="1CACE3"/>
      </a:accent2>
      <a:accent3>
        <a:srgbClr val="265991"/>
      </a:accent3>
      <a:accent4>
        <a:srgbClr val="7E40CC"/>
      </a:accent4>
      <a:accent5>
        <a:srgbClr val="B927E9"/>
      </a:accent5>
      <a:accent6>
        <a:srgbClr val="E833BF"/>
      </a:accent6>
      <a:hlink>
        <a:srgbClr val="2DA0F1"/>
      </a:hlink>
      <a:folHlink>
        <a:srgbClr val="7ED1E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Wisp">
  <a:themeElements>
    <a:clrScheme name="Wisp">
      <a:dk1>
        <a:srgbClr val="000000"/>
      </a:dk1>
      <a:lt1>
        <a:srgbClr val="FFFFFF"/>
      </a:lt1>
      <a:dk2>
        <a:srgbClr val="2E5369"/>
      </a:dk2>
      <a:lt2>
        <a:srgbClr val="CFE2E7"/>
      </a:lt2>
      <a:accent1>
        <a:srgbClr val="353535"/>
      </a:accent1>
      <a:accent2>
        <a:srgbClr val="1CACE3"/>
      </a:accent2>
      <a:accent3>
        <a:srgbClr val="265991"/>
      </a:accent3>
      <a:accent4>
        <a:srgbClr val="7E40CC"/>
      </a:accent4>
      <a:accent5>
        <a:srgbClr val="B927E9"/>
      </a:accent5>
      <a:accent6>
        <a:srgbClr val="E833BF"/>
      </a:accent6>
      <a:hlink>
        <a:srgbClr val="2DA0F1"/>
      </a:hlink>
      <a:folHlink>
        <a:srgbClr val="7ED1E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TotalTime>
  <Words>1245</Words>
  <Application>Microsoft Office PowerPoint</Application>
  <PresentationFormat>On-screen Show (4:3)</PresentationFormat>
  <Paragraphs>132</Paragraphs>
  <Slides>18</Slides>
  <Notes>17</Notes>
  <HiddenSlides>0</HiddenSlides>
  <MMClips>0</MMClips>
  <ScaleCrop>false</ScaleCrop>
  <HeadingPairs>
    <vt:vector size="4" baseType="variant">
      <vt:variant>
        <vt:lpstr>Theme</vt:lpstr>
      </vt:variant>
      <vt:variant>
        <vt:i4>2</vt:i4>
      </vt:variant>
      <vt:variant>
        <vt:lpstr>Slide Titles</vt:lpstr>
      </vt:variant>
      <vt:variant>
        <vt:i4>18</vt:i4>
      </vt:variant>
    </vt:vector>
  </HeadingPairs>
  <TitlesOfParts>
    <vt:vector size="20" baseType="lpstr">
      <vt:lpstr>1_Wisp</vt:lpstr>
      <vt:lpstr>2_Wisp</vt:lpstr>
      <vt:lpstr>PowerPoint Presentation</vt:lpstr>
      <vt:lpstr>Outline</vt:lpstr>
      <vt:lpstr>Problem Definition and Project Relevance</vt:lpstr>
      <vt:lpstr>Literature Review and Research Gap </vt:lpstr>
      <vt:lpstr>Literature Review and Research Gap </vt:lpstr>
      <vt:lpstr>Proposed Methodology</vt:lpstr>
      <vt:lpstr>Proposed Methodology</vt:lpstr>
      <vt:lpstr>Proposed Methodology</vt:lpstr>
      <vt:lpstr>Proposed Methodology</vt:lpstr>
      <vt:lpstr>Proposed Methodology</vt:lpstr>
      <vt:lpstr>Proposed Methodology</vt:lpstr>
      <vt:lpstr>Proposed Methodology</vt:lpstr>
      <vt:lpstr>Innovations and Objectives and expected Outcomes  </vt:lpstr>
      <vt:lpstr>Innovations and Objectives and expected Outcomes  </vt:lpstr>
      <vt:lpstr>Innovations and Objectives and expected Outcomes  </vt:lpstr>
      <vt:lpstr>Feasibility evaluation and Project Planning</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DSU-Library</dc:creator>
  <cp:lastModifiedBy>DSU-Library</cp:lastModifiedBy>
  <cp:revision>112</cp:revision>
  <dcterms:modified xsi:type="dcterms:W3CDTF">2026-08-21T15:42:08Z</dcterms:modified>
</cp:coreProperties>
</file>